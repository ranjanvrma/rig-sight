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4" d="100"/>
          <a:sy n="94" d="100"/>
        </p:scale>
        <p:origin x="586" y="7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200">
                <a:solidFill>
                  <a:srgbClr val="FFFAE5"/>
                </a:solidFill>
                <a:latin typeface="Inter Light"/>
              </a:rPr>
              <a:t>Mean NPT hours error per report (lower is better)</a:t>
            </a:r>
          </a:p>
        </c:rich>
      </c:tx>
      <c:overlay val="0"/>
    </c:title>
    <c:autoTitleDeleted val="0"/>
    <c:plotArea>
      <c:layout/>
      <c:barChart>
        <c:barDir val="bar"/>
        <c:grouping val="clustered"/>
        <c:varyColors val="1"/>
        <c:ser>
          <c:idx val="0"/>
          <c:order val="0"/>
          <c:tx>
            <c:strRef>
              <c:f>Sheet1!$B$1</c:f>
              <c:strCache>
                <c:ptCount val="1"/>
                <c:pt idx="0">
                  <c:v>NPT hours error per report</c:v>
                </c:pt>
              </c:strCache>
            </c:strRef>
          </c:tx>
          <c:invertIfNegative val="1"/>
          <c:dPt>
            <c:idx val="0"/>
            <c:invertIfNegative val="1"/>
            <c:bubble3D val="0"/>
            <c:spPr>
              <a:solidFill>
                <a:srgbClr val="F63B05"/>
              </a:solidFill>
            </c:spPr>
            <c:extLst>
              <c:ext xmlns:c16="http://schemas.microsoft.com/office/drawing/2014/chart" uri="{C3380CC4-5D6E-409C-BE32-E72D297353CC}">
                <c16:uniqueId val="{00000001-4AFE-4DF0-9540-0843363370EB}"/>
              </c:ext>
            </c:extLst>
          </c:dPt>
          <c:dPt>
            <c:idx val="1"/>
            <c:invertIfNegative val="1"/>
            <c:bubble3D val="0"/>
            <c:spPr>
              <a:solidFill>
                <a:srgbClr val="9A4A30"/>
              </a:solidFill>
            </c:spPr>
            <c:extLst>
              <c:ext xmlns:c16="http://schemas.microsoft.com/office/drawing/2014/chart" uri="{C3380CC4-5D6E-409C-BE32-E72D297353CC}">
                <c16:uniqueId val="{00000003-4AFE-4DF0-9540-0843363370EB}"/>
              </c:ext>
            </c:extLst>
          </c:dPt>
          <c:dPt>
            <c:idx val="2"/>
            <c:invertIfNegative val="1"/>
            <c:bubble3D val="0"/>
            <c:spPr>
              <a:solidFill>
                <a:srgbClr val="6B665C"/>
              </a:solidFill>
            </c:spPr>
            <c:extLst>
              <c:ext xmlns:c16="http://schemas.microsoft.com/office/drawing/2014/chart" uri="{C3380CC4-5D6E-409C-BE32-E72D297353CC}">
                <c16:uniqueId val="{00000005-4AFE-4DF0-9540-0843363370EB}"/>
              </c:ext>
            </c:extLst>
          </c:dPt>
          <c:dLbls>
            <c:numFmt formatCode="0.00&quot; h&quot;" sourceLinked="0"/>
            <c:spPr>
              <a:noFill/>
              <a:ln>
                <a:noFill/>
              </a:ln>
              <a:effectLst/>
            </c:spPr>
            <c:txPr>
              <a:bodyPr/>
              <a:lstStyle/>
              <a:p>
                <a:pPr>
                  <a:defRPr sz="1200">
                    <a:solidFill>
                      <a:srgbClr val="FFFAE5"/>
                    </a:solidFill>
                    <a:latin typeface="Inter Light"/>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Graph with Critic</c:v>
                </c:pt>
                <c:pt idx="1">
                  <c:v>Graph without Critic</c:v>
                </c:pt>
                <c:pt idx="2">
                  <c:v>Single-prompt chatbot</c:v>
                </c:pt>
              </c:strCache>
            </c:strRef>
          </c:cat>
          <c:val>
            <c:numRef>
              <c:f>Sheet1!$B$2:$B$4</c:f>
              <c:numCache>
                <c:formatCode>General</c:formatCode>
                <c:ptCount val="3"/>
                <c:pt idx="0">
                  <c:v>0.46700000000000003</c:v>
                </c:pt>
                <c:pt idx="1">
                  <c:v>0.433</c:v>
                </c:pt>
                <c:pt idx="2">
                  <c:v>3.8330000000000002</c:v>
                </c:pt>
              </c:numCache>
            </c:numRef>
          </c:val>
          <c:extLst>
            <c:ext xmlns:c16="http://schemas.microsoft.com/office/drawing/2014/chart" uri="{C3380CC4-5D6E-409C-BE32-E72D297353CC}">
              <c16:uniqueId val="{00000006-4AFE-4DF0-9540-0843363370EB}"/>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444444"/>
            </a:solidFill>
          </a:ln>
        </c:spPr>
        <c:txPr>
          <a:bodyPr/>
          <a:lstStyle/>
          <a:p>
            <a:pPr>
              <a:defRPr sz="1100">
                <a:solidFill>
                  <a:srgbClr val="FFFAE5"/>
                </a:solidFill>
                <a:latin typeface="Inter Light"/>
              </a:defRPr>
            </a:pPr>
            <a:endParaRPr lang="en-US"/>
          </a:p>
        </c:txPr>
        <c:crossAx val="-2113994440"/>
        <c:crosses val="autoZero"/>
        <c:auto val="1"/>
        <c:lblAlgn val="ctr"/>
        <c:lblOffset val="100"/>
        <c:noMultiLvlLbl val="0"/>
      </c:catAx>
      <c:valAx>
        <c:axId val="-2113994440"/>
        <c:scaling>
          <c:orientation val="minMax"/>
          <c:max val="5"/>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24341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ourselves. Every rig writes a daily report, lost time hides inside it, and our team of AI agents finds it, checks it and hands it to an engineer to approve.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the scene with money: one lost hour is about $16,000 of rig time. Operators that track NPT closely cut it a lot, and big players already pay for agentic AI.</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three lines. Lines two and three are lost time, but nothing in the report adds them up.</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NPT has patterns. Today nobody adds it up consistently, so the same failure comes back on the next well.</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one question the whole project answers.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not ChatGPT? A chatbot gives one answer with no checking and guesses numbers. We split the job, use code for the maths and check before a human signs off.</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roles, one shared state. Agents never talk directly; the Orchestrator decides who works next.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Hub and spoke. Orchestrator in the middle, four agents around it, ToolNode for exact maths, incident memory and reference data at the bottom, engineer review as an interrupt before the final report. Follow arrows 1 to 15. If asked, the final code differs in small ways: the Planner is rule based, recursion_limit is 50 (worst case 32 steps), the model is qwen2.5:3b, and the Critic also checks gaps, overlaps and unparseable lines.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Normal edges are fixed add_edge calls. Conditional edges come from route() or tools_condition. The red retry loop is what makes it agentic.</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Small local models are fine at labelling a sentence but bad at arithmetic. Every number comes from Python, so the Critic can check it exactly. We tried letting the model rephrase the summary; it kept the numbers but attached them to the wrong categories, so the summary is a template by default. No paid API.</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real run with qwen2.5:3b. The key moment is the Critic catching 23.5 h and naming the exact gap. Then the engineer catches what the Critic cannot: a confident mislabel. Both loops are part of the graph.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synthetic, as the brief asks. We planted every event, so each report has a known answer. One trap: 'waited on cement' is planned work, not NPT.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Clean day: zero NPT. Tool failure day: right hours and category. W-02 Day 14: the Critic catches the 23.5 h log. If the live demo does not fit, use the next slide. Anyone can try it at rig-sight.streamlit.app (mock model; the real model runs locally).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the live demo. Left is the run: the Critic fails the first pass at 23.5 h and the retry recovers the missing half hour. Right is the final report after the engineer rejected one mislabel and approved.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synthetic report has a known answer, so we can score instead of saying 'it looks good'. Same 15 reports, same model, three configurations.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model for all three runs, so the comparison is fair. Point at the chatbot bar first, then ours. Then be honest about the no-Critic number and the two confident mislabels: that is why the engineer approves every report.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honest about limits. It is a PoC on synthetic data. The human stays in the loop because the model makes confident mistakes and the industry has not settled how much to trust agents.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number computed, every flag sourced, every report approved by a person. Questions.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11 sources. Source numbers match the small (Source N) tags on the slides. The code and the live demo links are at the bottom right.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hyperlink" Target="https://rig-sight.streamlit.app/" TargetMode="External"/><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hyperlink" Target="https://github.com/ranjanvrma/rig-sight" TargetMode="External"/><Relationship Id="rId5" Type="http://schemas.openxmlformats.org/officeDocument/2006/relationships/image" Target="../media/image16.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chart" Target="../charts/chart1.xml"/></Relationships>
</file>

<file path=ppt/slides/_rels/slide17.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hyperlink" Target="https://rig-sight.streamlit.app/" TargetMode="External"/><Relationship Id="rId4" Type="http://schemas.openxmlformats.org/officeDocument/2006/relationships/hyperlink" Target="https://github.com/ranjanvrma/rig-sigh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architecture_original.png"/>
          <p:cNvPicPr>
            <a:picLocks noChangeAspect="1"/>
          </p:cNvPicPr>
          <p:nvPr/>
        </p:nvPicPr>
        <p:blipFill>
          <a:blip r:embed="rId3"/>
          <a:stretch>
            <a:fillRect/>
          </a:stretch>
        </p:blipFill>
        <p:spPr>
          <a:xfrm>
            <a:off x="0" y="169415"/>
            <a:ext cx="12191695" cy="651917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364057" y="5858786"/>
            <a:ext cx="5477796" cy="575718"/>
          </a:xfrm>
          <a:prstGeom prst="rect">
            <a:avLst/>
          </a:prstGeom>
          <a:noFill/>
        </p:spPr>
        <p:txBody>
          <a:bodyPr wrap="square" lIns="0" tIns="0" rIns="0" bIns="0" anchor="t">
            <a:spAutoFit/>
          </a:bodyPr>
          <a:lstStyle/>
          <a:p>
            <a:pPr algn="l"/>
            <a:r>
              <a:rPr sz="1200" b="1">
                <a:solidFill>
                  <a:srgbClr val="FFFFFF"/>
                </a:solidFill>
                <a:latin typeface="Inter Light"/>
              </a:rPr>
              <a:t>THE MODEL READS: </a:t>
            </a:r>
            <a:r>
              <a:rPr sz="1200" b="0">
                <a:solidFill>
                  <a:srgbClr val="FFFFFF"/>
                </a:solidFill>
                <a:latin typeface="Inter Light"/>
              </a:rPr>
              <a:t>a local Ollama model (qwen2.5:3b) only labels each log line with an NPT category and a confidence score. It does not write the numbers: in testing it swapped which hours belonged to which category. A mock classifier is the fallback and is always shown as mock.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9330033" y="3471246"/>
            <a:ext cx="2565335" cy="3344249"/>
          </a:xfrm>
          <a:prstGeom prst="rect">
            <a:avLst/>
          </a:prstGeom>
          <a:noFill/>
        </p:spPr>
        <p:txBody>
          <a:bodyPr wrap="square" lIns="0" tIns="0" rIns="0" bIns="0" anchor="t">
            <a:spAutoFit/>
          </a:bodyPr>
          <a:lstStyle/>
          <a:p>
            <a:pPr algn="l">
              <a:spcAft>
                <a:spcPts val="600"/>
              </a:spcAft>
            </a:pPr>
            <a:r>
              <a:rPr sz="1100" b="1">
                <a:solidFill>
                  <a:srgbClr val="FFFFFF"/>
                </a:solidFill>
                <a:latin typeface="Inter Light"/>
              </a:rPr>
              <a:t>1 PLAN AND RESEARCH </a:t>
            </a:r>
            <a:r>
              <a:rPr sz="1100" b="0">
                <a:solidFill>
                  <a:srgbClr val="FFFFFF"/>
                </a:solidFill>
                <a:latin typeface="Inter Light"/>
              </a:rPr>
              <a:t>Well W-02, Day 14. The Planner makes 9 tasks. Research finds 2,650 m planned against 2,610 m actual and two past MWD failures on this field.</a:t>
            </a:r>
          </a:p>
          <a:p>
            <a:pPr algn="l">
              <a:spcAft>
                <a:spcPts val="600"/>
              </a:spcAft>
            </a:pPr>
            <a:r>
              <a:rPr sz="1100" b="1">
                <a:solidFill>
                  <a:srgbClr val="FFFFFF"/>
                </a:solidFill>
                <a:latin typeface="Inter Light"/>
              </a:rPr>
              <a:t>2 EXECUTE AND CHECK </a:t>
            </a:r>
            <a:r>
              <a:rPr sz="1100" b="0">
                <a:solidFill>
                  <a:srgbClr val="FFFFFF"/>
                </a:solidFill>
                <a:latin typeface="Inter Light"/>
              </a:rPr>
              <a:t>Tools label 5.5 h of tool failure. The Critic sees 23.5 h, names the 20:30-21:00 gap and sends it back. The retry finds it in REMARKS: 24.0 h, PASS.</a:t>
            </a:r>
          </a:p>
          <a:p>
            <a:pPr algn="l">
              <a:spcAft>
                <a:spcPts val="600"/>
              </a:spcAft>
            </a:pPr>
            <a:r>
              <a:rPr sz="1100" b="1">
                <a:solidFill>
                  <a:srgbClr val="FFFFFF"/>
                </a:solidFill>
                <a:latin typeface="Inter Light"/>
              </a:rPr>
              <a:t>3 ENGINEER DECIDES </a:t>
            </a:r>
            <a:r>
              <a:rPr sz="1100" b="0">
                <a:solidFill>
                  <a:srgbClr val="FFFFFF"/>
                </a:solidFill>
                <a:latin typeface="Inter Light"/>
              </a:rPr>
              <a:t>The model also called 'slip and cut' (3 h) NPT. The engineer rejects with 'line 7 is planned', the graph re-runs: 8.0 h NPT, approved.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524920" y="533386"/>
            <a:ext cx="1032907" cy="474121"/>
          </a:xfrm>
          <a:prstGeom prst="rect">
            <a:avLst/>
          </a:prstGeom>
        </p:spPr>
      </p:pic>
      <p:sp>
        <p:nvSpPr>
          <p:cNvPr id="3" name="TextBox 2"/>
          <p:cNvSpPr txBox="1"/>
          <p:nvPr/>
        </p:nvSpPr>
        <p:spPr>
          <a:xfrm>
            <a:off x="8898244" y="524920"/>
            <a:ext cx="2700799" cy="499520"/>
          </a:xfrm>
          <a:prstGeom prst="rect">
            <a:avLst/>
          </a:prstGeom>
          <a:noFill/>
        </p:spPr>
        <p:txBody>
          <a:bodyPr wrap="square" lIns="0" tIns="0" rIns="0" bIns="0" anchor="t">
            <a:spAutoFit/>
          </a:bodyPr>
          <a:lstStyle/>
          <a:p>
            <a:pPr algn="r"/>
            <a:r>
              <a:rPr sz="2700" b="0">
                <a:solidFill>
                  <a:srgbClr val="F63B05"/>
                </a:solidFill>
                <a:latin typeface="Anton"/>
              </a:rPr>
              <a:t>THE APP, LIVE</a:t>
            </a:r>
          </a:p>
        </p:txBody>
      </p:sp>
      <p:sp>
        <p:nvSpPr>
          <p:cNvPr id="4" name="TextBox 3"/>
          <p:cNvSpPr txBox="1"/>
          <p:nvPr/>
        </p:nvSpPr>
        <p:spPr>
          <a:xfrm>
            <a:off x="502920" y="1051560"/>
            <a:ext cx="6949440" cy="731520"/>
          </a:xfrm>
          <a:prstGeom prst="rect">
            <a:avLst/>
          </a:prstGeom>
          <a:noFill/>
        </p:spPr>
        <p:txBody>
          <a:bodyPr wrap="square" lIns="0" tIns="0" rIns="0" bIns="0" anchor="t">
            <a:spAutoFit/>
          </a:bodyPr>
          <a:lstStyle/>
          <a:p>
            <a:pPr algn="l"/>
            <a:r>
              <a:rPr sz="3400" b="0">
                <a:solidFill>
                  <a:srgbClr val="FFFAE5"/>
                </a:solidFill>
                <a:latin typeface="Anton"/>
              </a:rPr>
              <a:t>W-02 · DAY 14, REAL RUN</a:t>
            </a:r>
          </a:p>
        </p:txBody>
      </p:sp>
      <p:pic>
        <p:nvPicPr>
          <p:cNvPr id="5" name="Picture 4" descr="app_w02d14_top.png"/>
          <p:cNvPicPr>
            <a:picLocks noChangeAspect="1"/>
          </p:cNvPicPr>
          <p:nvPr/>
        </p:nvPicPr>
        <p:blipFill>
          <a:blip r:embed="rId4"/>
          <a:stretch>
            <a:fillRect/>
          </a:stretch>
        </p:blipFill>
        <p:spPr>
          <a:xfrm>
            <a:off x="502920" y="1874519"/>
            <a:ext cx="5852160" cy="2993235"/>
          </a:xfrm>
          <a:prstGeom prst="rect">
            <a:avLst/>
          </a:prstGeom>
        </p:spPr>
      </p:pic>
      <p:pic>
        <p:nvPicPr>
          <p:cNvPr id="6" name="Picture 5" descr="app_w02d14_approved.png"/>
          <p:cNvPicPr>
            <a:picLocks noChangeAspect="1"/>
          </p:cNvPicPr>
          <p:nvPr/>
        </p:nvPicPr>
        <p:blipFill>
          <a:blip r:embed="rId5"/>
          <a:stretch>
            <a:fillRect/>
          </a:stretch>
        </p:blipFill>
        <p:spPr>
          <a:xfrm>
            <a:off x="6675120" y="1874519"/>
            <a:ext cx="5013655" cy="3630105"/>
          </a:xfrm>
          <a:prstGeom prst="rect">
            <a:avLst/>
          </a:prstGeom>
        </p:spPr>
      </p:pic>
      <p:sp>
        <p:nvSpPr>
          <p:cNvPr id="7" name="TextBox 6"/>
          <p:cNvSpPr txBox="1"/>
          <p:nvPr/>
        </p:nvSpPr>
        <p:spPr>
          <a:xfrm>
            <a:off x="502920" y="5687504"/>
            <a:ext cx="5852160" cy="914400"/>
          </a:xfrm>
          <a:prstGeom prst="rect">
            <a:avLst/>
          </a:prstGeom>
          <a:noFill/>
        </p:spPr>
        <p:txBody>
          <a:bodyPr wrap="square" lIns="0" tIns="0" rIns="0" bIns="0" anchor="t">
            <a:spAutoFit/>
          </a:bodyPr>
          <a:lstStyle/>
          <a:p>
            <a:pPr algn="l"/>
            <a:r>
              <a:rPr sz="1200" b="1">
                <a:solidFill>
                  <a:srgbClr val="F63B05"/>
                </a:solidFill>
                <a:latin typeface="Inter Light"/>
              </a:rPr>
              <a:t>Run: </a:t>
            </a:r>
            <a:r>
              <a:rPr sz="1200" b="0">
                <a:solidFill>
                  <a:srgbClr val="FFFFFF"/>
                </a:solidFill>
                <a:latin typeface="Inter Light"/>
              </a:rPr>
              <a:t>each NPT line labelled with category · hours · model confidence; the 20:30-21:00 line recovered from REMARKS after the Critic's FAIL; the live agent trace.</a:t>
            </a:r>
          </a:p>
        </p:txBody>
      </p:sp>
      <p:sp>
        <p:nvSpPr>
          <p:cNvPr id="8" name="TextBox 7"/>
          <p:cNvSpPr txBox="1"/>
          <p:nvPr/>
        </p:nvSpPr>
        <p:spPr>
          <a:xfrm>
            <a:off x="6675120" y="5687504"/>
            <a:ext cx="5013655" cy="914400"/>
          </a:xfrm>
          <a:prstGeom prst="rect">
            <a:avLst/>
          </a:prstGeom>
          <a:noFill/>
        </p:spPr>
        <p:txBody>
          <a:bodyPr wrap="square" lIns="0" tIns="0" rIns="0" bIns="0" anchor="t">
            <a:spAutoFit/>
          </a:bodyPr>
          <a:lstStyle/>
          <a:p>
            <a:pPr algn="l"/>
            <a:r>
              <a:rPr sz="1200" b="1">
                <a:solidFill>
                  <a:srgbClr val="F63B05"/>
                </a:solidFill>
                <a:latin typeface="Inter Light"/>
              </a:rPr>
              <a:t>After review: </a:t>
            </a:r>
            <a:r>
              <a:rPr sz="1200" b="0">
                <a:solidFill>
                  <a:srgbClr val="FFFFFF"/>
                </a:solidFill>
                <a:latin typeface="Inter Light"/>
              </a:rPr>
              <a:t>the engineer rejected one mislabel (line 7, slip and cut), the graph re-ran: 8.0 h NPT, approved.</a:t>
            </a:r>
          </a:p>
        </p:txBody>
      </p:sp>
      <p:sp>
        <p:nvSpPr>
          <p:cNvPr id="9" name="TextBox 8"/>
          <p:cNvSpPr txBox="1"/>
          <p:nvPr/>
        </p:nvSpPr>
        <p:spPr>
          <a:xfrm>
            <a:off x="502920" y="6263640"/>
            <a:ext cx="11155680" cy="365760"/>
          </a:xfrm>
          <a:prstGeom prst="rect">
            <a:avLst/>
          </a:prstGeom>
          <a:noFill/>
        </p:spPr>
        <p:txBody>
          <a:bodyPr wrap="square" lIns="0" tIns="0" rIns="0" bIns="0" anchor="t">
            <a:spAutoFit/>
          </a:bodyPr>
          <a:lstStyle/>
          <a:p>
            <a:pPr algn="l"/>
            <a:r>
              <a:rPr sz="1200" b="1">
                <a:solidFill>
                  <a:srgbClr val="F63B05"/>
                </a:solidFill>
                <a:latin typeface="Inter Light"/>
              </a:rPr>
              <a:t>Code: </a:t>
            </a:r>
            <a:r>
              <a:rPr sz="1200" b="0">
                <a:solidFill>
                  <a:srgbClr val="FFFAE5"/>
                </a:solidFill>
                <a:latin typeface="Inter Light"/>
                <a:hlinkClick r:id="rId6"/>
              </a:rPr>
              <a:t>github.com/ranjanvrma/rig-sight</a:t>
            </a:r>
            <a:r>
              <a:rPr sz="1200" b="1">
                <a:solidFill>
                  <a:srgbClr val="F63B05"/>
                </a:solidFill>
                <a:latin typeface="Inter Light"/>
              </a:rPr>
              <a:t>     Try it: </a:t>
            </a:r>
            <a:r>
              <a:rPr sz="1200" b="0">
                <a:solidFill>
                  <a:srgbClr val="FFFAE5"/>
                </a:solidFill>
                <a:latin typeface="Inter Light"/>
                <a:hlinkClick r:id="rId7"/>
              </a:rPr>
              <a:t>rig-sight.streamlit.app</a:t>
            </a:r>
            <a:r>
              <a:rPr sz="1200" b="0">
                <a:solidFill>
                  <a:srgbClr val="FFFFFF"/>
                </a:solidFill>
                <a:latin typeface="Inter Light"/>
              </a:rPr>
              <a:t>  (mock classifier online; the real model runs locally with Ollama)</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3301917" y="3708307"/>
            <a:ext cx="2624601" cy="694249"/>
          </a:xfrm>
          <a:prstGeom prst="rect">
            <a:avLst/>
          </a:prstGeom>
          <a:noFill/>
        </p:spPr>
        <p:txBody>
          <a:bodyPr wrap="square" lIns="0" tIns="0" rIns="0" bIns="0" anchor="t">
            <a:spAutoFit/>
          </a:bodyPr>
          <a:lstStyle/>
          <a:p>
            <a:pPr algn="l"/>
            <a:r>
              <a:rPr sz="1200" b="1">
                <a:solidFill>
                  <a:srgbClr val="F63B05"/>
                </a:solidFill>
                <a:latin typeface="Inter Light"/>
              </a:rPr>
              <a:t>RESULTS (qwen2.5:3b, 15 reports): </a:t>
            </a:r>
            <a:r>
              <a:rPr sz="1200" b="0">
                <a:solidFill>
                  <a:srgbClr val="FFFFFF"/>
                </a:solidFill>
                <a:latin typeface="Inter Light"/>
              </a:rPr>
              <a:t>NPT error 0.47 h per report for our graph vs 3.83 h for a chatbot on the same model. Next slide.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524920" y="533386"/>
            <a:ext cx="1032907" cy="474121"/>
          </a:xfrm>
          <a:prstGeom prst="rect">
            <a:avLst/>
          </a:prstGeom>
        </p:spPr>
      </p:pic>
      <p:sp>
        <p:nvSpPr>
          <p:cNvPr id="3" name="TextBox 2"/>
          <p:cNvSpPr txBox="1"/>
          <p:nvPr/>
        </p:nvSpPr>
        <p:spPr>
          <a:xfrm>
            <a:off x="8898244" y="524920"/>
            <a:ext cx="2700799" cy="499520"/>
          </a:xfrm>
          <a:prstGeom prst="rect">
            <a:avLst/>
          </a:prstGeom>
          <a:noFill/>
        </p:spPr>
        <p:txBody>
          <a:bodyPr wrap="square" lIns="0" tIns="0" rIns="0" bIns="0" anchor="t">
            <a:spAutoFit/>
          </a:bodyPr>
          <a:lstStyle/>
          <a:p>
            <a:pPr algn="r"/>
            <a:r>
              <a:rPr sz="2700" b="0">
                <a:solidFill>
                  <a:srgbClr val="F63B05"/>
                </a:solidFill>
                <a:latin typeface="Anton"/>
              </a:rPr>
              <a:t>RESULTS</a:t>
            </a:r>
          </a:p>
        </p:txBody>
      </p:sp>
      <p:sp>
        <p:nvSpPr>
          <p:cNvPr id="4" name="TextBox 3"/>
          <p:cNvSpPr txBox="1"/>
          <p:nvPr/>
        </p:nvSpPr>
        <p:spPr>
          <a:xfrm>
            <a:off x="502920" y="1051560"/>
            <a:ext cx="6400800" cy="731520"/>
          </a:xfrm>
          <a:prstGeom prst="rect">
            <a:avLst/>
          </a:prstGeom>
          <a:noFill/>
        </p:spPr>
        <p:txBody>
          <a:bodyPr wrap="square" lIns="0" tIns="0" rIns="0" bIns="0" anchor="t">
            <a:spAutoFit/>
          </a:bodyPr>
          <a:lstStyle/>
          <a:p>
            <a:pPr algn="l"/>
            <a:r>
              <a:rPr sz="3400" b="0">
                <a:solidFill>
                  <a:srgbClr val="FFFAE5"/>
                </a:solidFill>
                <a:latin typeface="Anton"/>
              </a:rPr>
              <a:t>SAME MODEL, 15 REPORTS</a:t>
            </a:r>
          </a:p>
        </p:txBody>
      </p:sp>
      <p:graphicFrame>
        <p:nvGraphicFramePr>
          <p:cNvPr id="5" name="Chart 4"/>
          <p:cNvGraphicFramePr>
            <a:graphicFrameLocks noGrp="1"/>
          </p:cNvGraphicFramePr>
          <p:nvPr/>
        </p:nvGraphicFramePr>
        <p:xfrm>
          <a:off x="502920" y="1783080"/>
          <a:ext cx="512064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46289413"/>
              </p:ext>
            </p:extLst>
          </p:nvPr>
        </p:nvGraphicFramePr>
        <p:xfrm>
          <a:off x="6035040" y="1783080"/>
          <a:ext cx="5669280" cy="2743200"/>
        </p:xfrm>
        <a:graphic>
          <a:graphicData uri="http://schemas.openxmlformats.org/drawingml/2006/table">
            <a:tbl>
              <a:tblPr firstRow="1" bandRow="1">
                <a:tableStyleId>{5C22544A-7EE6-4342-B048-85BDC9FD1C3A}</a:tableStyleId>
              </a:tblPr>
              <a:tblGrid>
                <a:gridCol w="196596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457200">
                <a:tc>
                  <a:txBody>
                    <a:bodyPr/>
                    <a:lstStyle/>
                    <a:p>
                      <a:pPr algn="l"/>
                      <a:endParaRPr/>
                    </a:p>
                  </a:txBody>
                  <a:tcPr marL="73152" marR="73152">
                    <a:solidFill>
                      <a:srgbClr val="1E1E1E"/>
                    </a:solidFill>
                  </a:tcPr>
                </a:tc>
                <a:tc>
                  <a:txBody>
                    <a:bodyPr/>
                    <a:lstStyle/>
                    <a:p>
                      <a:pPr algn="ctr"/>
                      <a:r>
                        <a:rPr sz="1200" b="0" dirty="0">
                          <a:solidFill>
                            <a:srgbClr val="FFFAE5"/>
                          </a:solidFill>
                          <a:latin typeface="Anton"/>
                        </a:rPr>
                        <a:t>With Critic</a:t>
                      </a:r>
                    </a:p>
                  </a:txBody>
                  <a:tcPr marL="73152" marR="73152">
                    <a:solidFill>
                      <a:srgbClr val="1E1E1E"/>
                    </a:solidFill>
                  </a:tcPr>
                </a:tc>
                <a:tc>
                  <a:txBody>
                    <a:bodyPr/>
                    <a:lstStyle/>
                    <a:p>
                      <a:pPr algn="ctr"/>
                      <a:r>
                        <a:rPr sz="1200" b="0" dirty="0">
                          <a:solidFill>
                            <a:srgbClr val="FFFAE5"/>
                          </a:solidFill>
                          <a:latin typeface="Anton"/>
                        </a:rPr>
                        <a:t>No Critic</a:t>
                      </a:r>
                    </a:p>
                  </a:txBody>
                  <a:tcPr marL="73152" marR="73152">
                    <a:solidFill>
                      <a:srgbClr val="1E1E1E"/>
                    </a:solidFill>
                  </a:tcPr>
                </a:tc>
                <a:tc>
                  <a:txBody>
                    <a:bodyPr/>
                    <a:lstStyle/>
                    <a:p>
                      <a:pPr algn="ctr"/>
                      <a:r>
                        <a:rPr sz="1200" b="0" dirty="0">
                          <a:solidFill>
                            <a:srgbClr val="FFFAE5"/>
                          </a:solidFill>
                          <a:latin typeface="Anton"/>
                        </a:rPr>
                        <a:t>Chatbot</a:t>
                      </a:r>
                    </a:p>
                  </a:txBody>
                  <a:tcPr marL="73152" marR="73152">
                    <a:solidFill>
                      <a:srgbClr val="1E1E1E"/>
                    </a:solidFill>
                  </a:tcPr>
                </a:tc>
                <a:extLst>
                  <a:ext uri="{0D108BD9-81ED-4DB2-BD59-A6C34878D82A}">
                    <a16:rowId xmlns:a16="http://schemas.microsoft.com/office/drawing/2014/main" val="10000"/>
                  </a:ext>
                </a:extLst>
              </a:tr>
              <a:tr h="457200">
                <a:tc>
                  <a:txBody>
                    <a:bodyPr/>
                    <a:lstStyle/>
                    <a:p>
                      <a:pPr algn="l"/>
                      <a:r>
                        <a:rPr sz="1200">
                          <a:solidFill>
                            <a:srgbClr val="FFFAE5"/>
                          </a:solidFill>
                          <a:latin typeface="Inter Light"/>
                        </a:rPr>
                        <a:t>Category accuracy</a:t>
                      </a:r>
                    </a:p>
                  </a:txBody>
                  <a:tcPr marL="73152" marR="73152">
                    <a:solidFill>
                      <a:srgbClr val="141414"/>
                    </a:solidFill>
                  </a:tcPr>
                </a:tc>
                <a:tc>
                  <a:txBody>
                    <a:bodyPr/>
                    <a:lstStyle/>
                    <a:p>
                      <a:pPr algn="ctr"/>
                      <a:r>
                        <a:rPr sz="1200">
                          <a:solidFill>
                            <a:srgbClr val="F63B05"/>
                          </a:solidFill>
                          <a:latin typeface="Inter Light"/>
                        </a:rPr>
                        <a:t>100%</a:t>
                      </a:r>
                    </a:p>
                  </a:txBody>
                  <a:tcPr marL="73152" marR="73152">
                    <a:solidFill>
                      <a:srgbClr val="141414"/>
                    </a:solidFill>
                  </a:tcPr>
                </a:tc>
                <a:tc>
                  <a:txBody>
                    <a:bodyPr/>
                    <a:lstStyle/>
                    <a:p>
                      <a:pPr algn="ctr"/>
                      <a:r>
                        <a:rPr sz="1200">
                          <a:solidFill>
                            <a:srgbClr val="FFFAE5"/>
                          </a:solidFill>
                          <a:latin typeface="Inter Light"/>
                        </a:rPr>
                        <a:t>96.6%</a:t>
                      </a:r>
                    </a:p>
                  </a:txBody>
                  <a:tcPr marL="73152" marR="73152">
                    <a:solidFill>
                      <a:srgbClr val="141414"/>
                    </a:solidFill>
                  </a:tcPr>
                </a:tc>
                <a:tc>
                  <a:txBody>
                    <a:bodyPr/>
                    <a:lstStyle/>
                    <a:p>
                      <a:pPr algn="ctr"/>
                      <a:r>
                        <a:rPr sz="1200">
                          <a:solidFill>
                            <a:srgbClr val="FFFAE5"/>
                          </a:solidFill>
                          <a:latin typeface="Inter Light"/>
                        </a:rPr>
                        <a:t>76%</a:t>
                      </a:r>
                    </a:p>
                  </a:txBody>
                  <a:tcPr marL="73152" marR="73152">
                    <a:solidFill>
                      <a:srgbClr val="141414"/>
                    </a:solidFill>
                  </a:tcPr>
                </a:tc>
                <a:extLst>
                  <a:ext uri="{0D108BD9-81ED-4DB2-BD59-A6C34878D82A}">
                    <a16:rowId xmlns:a16="http://schemas.microsoft.com/office/drawing/2014/main" val="10001"/>
                  </a:ext>
                </a:extLst>
              </a:tr>
              <a:tr h="457200">
                <a:tc>
                  <a:txBody>
                    <a:bodyPr/>
                    <a:lstStyle/>
                    <a:p>
                      <a:pPr algn="l"/>
                      <a:r>
                        <a:rPr sz="1200">
                          <a:solidFill>
                            <a:srgbClr val="FFFAE5"/>
                          </a:solidFill>
                          <a:latin typeface="Inter Light"/>
                        </a:rPr>
                        <a:t>Critic catch rate</a:t>
                      </a:r>
                    </a:p>
                  </a:txBody>
                  <a:tcPr marL="73152" marR="73152">
                    <a:solidFill>
                      <a:srgbClr val="0A0A0A"/>
                    </a:solidFill>
                  </a:tcPr>
                </a:tc>
                <a:tc>
                  <a:txBody>
                    <a:bodyPr/>
                    <a:lstStyle/>
                    <a:p>
                      <a:pPr algn="ctr"/>
                      <a:r>
                        <a:rPr sz="1200">
                          <a:solidFill>
                            <a:srgbClr val="F63B05"/>
                          </a:solidFill>
                          <a:latin typeface="Inter Light"/>
                        </a:rPr>
                        <a:t>2 / 2</a:t>
                      </a:r>
                    </a:p>
                  </a:txBody>
                  <a:tcPr marL="73152" marR="73152">
                    <a:solidFill>
                      <a:srgbClr val="0A0A0A"/>
                    </a:solidFill>
                  </a:tcPr>
                </a:tc>
                <a:tc>
                  <a:txBody>
                    <a:bodyPr/>
                    <a:lstStyle/>
                    <a:p>
                      <a:pPr algn="ctr"/>
                      <a:r>
                        <a:rPr sz="1200">
                          <a:solidFill>
                            <a:srgbClr val="FFFAE5"/>
                          </a:solidFill>
                          <a:latin typeface="Inter Light"/>
                        </a:rPr>
                        <a:t>n/a</a:t>
                      </a:r>
                    </a:p>
                  </a:txBody>
                  <a:tcPr marL="73152" marR="73152">
                    <a:solidFill>
                      <a:srgbClr val="0A0A0A"/>
                    </a:solidFill>
                  </a:tcPr>
                </a:tc>
                <a:tc>
                  <a:txBody>
                    <a:bodyPr/>
                    <a:lstStyle/>
                    <a:p>
                      <a:pPr algn="ctr"/>
                      <a:r>
                        <a:rPr sz="1200">
                          <a:solidFill>
                            <a:srgbClr val="FFFAE5"/>
                          </a:solidFill>
                          <a:latin typeface="Inter Light"/>
                        </a:rPr>
                        <a:t>n/a</a:t>
                      </a:r>
                    </a:p>
                  </a:txBody>
                  <a:tcPr marL="73152" marR="73152">
                    <a:solidFill>
                      <a:srgbClr val="0A0A0A"/>
                    </a:solidFill>
                  </a:tcPr>
                </a:tc>
                <a:extLst>
                  <a:ext uri="{0D108BD9-81ED-4DB2-BD59-A6C34878D82A}">
                    <a16:rowId xmlns:a16="http://schemas.microsoft.com/office/drawing/2014/main" val="10002"/>
                  </a:ext>
                </a:extLst>
              </a:tr>
              <a:tr h="457200">
                <a:tc>
                  <a:txBody>
                    <a:bodyPr/>
                    <a:lstStyle/>
                    <a:p>
                      <a:pPr algn="l"/>
                      <a:r>
                        <a:rPr sz="1200">
                          <a:solidFill>
                            <a:srgbClr val="FFFAE5"/>
                          </a:solidFill>
                          <a:latin typeface="Inter Light"/>
                        </a:rPr>
                        <a:t>Logs adding to 24 h</a:t>
                      </a:r>
                    </a:p>
                  </a:txBody>
                  <a:tcPr marL="73152" marR="73152">
                    <a:solidFill>
                      <a:srgbClr val="141414"/>
                    </a:solidFill>
                  </a:tcPr>
                </a:tc>
                <a:tc>
                  <a:txBody>
                    <a:bodyPr/>
                    <a:lstStyle/>
                    <a:p>
                      <a:pPr algn="ctr"/>
                      <a:r>
                        <a:rPr sz="1200">
                          <a:solidFill>
                            <a:srgbClr val="F63B05"/>
                          </a:solidFill>
                          <a:latin typeface="Inter Light"/>
                        </a:rPr>
                        <a:t>15/15</a:t>
                      </a:r>
                    </a:p>
                  </a:txBody>
                  <a:tcPr marL="73152" marR="73152">
                    <a:solidFill>
                      <a:srgbClr val="141414"/>
                    </a:solidFill>
                  </a:tcPr>
                </a:tc>
                <a:tc>
                  <a:txBody>
                    <a:bodyPr/>
                    <a:lstStyle/>
                    <a:p>
                      <a:pPr algn="ctr"/>
                      <a:r>
                        <a:rPr sz="1200">
                          <a:solidFill>
                            <a:srgbClr val="FFFAE5"/>
                          </a:solidFill>
                          <a:latin typeface="Inter Light"/>
                        </a:rPr>
                        <a:t>13/15</a:t>
                      </a:r>
                    </a:p>
                  </a:txBody>
                  <a:tcPr marL="73152" marR="73152">
                    <a:solidFill>
                      <a:srgbClr val="141414"/>
                    </a:solidFill>
                  </a:tcPr>
                </a:tc>
                <a:tc>
                  <a:txBody>
                    <a:bodyPr/>
                    <a:lstStyle/>
                    <a:p>
                      <a:pPr algn="ctr"/>
                      <a:r>
                        <a:rPr sz="1200">
                          <a:solidFill>
                            <a:srgbClr val="FFFAE5"/>
                          </a:solidFill>
                          <a:latin typeface="Inter Light"/>
                        </a:rPr>
                        <a:t>1/15</a:t>
                      </a:r>
                    </a:p>
                  </a:txBody>
                  <a:tcPr marL="73152" marR="73152">
                    <a:solidFill>
                      <a:srgbClr val="141414"/>
                    </a:solidFill>
                  </a:tcPr>
                </a:tc>
                <a:extLst>
                  <a:ext uri="{0D108BD9-81ED-4DB2-BD59-A6C34878D82A}">
                    <a16:rowId xmlns:a16="http://schemas.microsoft.com/office/drawing/2014/main" val="10003"/>
                  </a:ext>
                </a:extLst>
              </a:tr>
              <a:tr h="457200">
                <a:tc>
                  <a:txBody>
                    <a:bodyPr/>
                    <a:lstStyle/>
                    <a:p>
                      <a:pPr algn="l"/>
                      <a:r>
                        <a:rPr sz="1200">
                          <a:solidFill>
                            <a:srgbClr val="FFFAE5"/>
                          </a:solidFill>
                          <a:latin typeface="Inter Light"/>
                        </a:rPr>
                        <a:t>Reports exactly right</a:t>
                      </a:r>
                    </a:p>
                  </a:txBody>
                  <a:tcPr marL="73152" marR="73152">
                    <a:solidFill>
                      <a:srgbClr val="0A0A0A"/>
                    </a:solidFill>
                  </a:tcPr>
                </a:tc>
                <a:tc>
                  <a:txBody>
                    <a:bodyPr/>
                    <a:lstStyle/>
                    <a:p>
                      <a:pPr algn="ctr"/>
                      <a:r>
                        <a:rPr sz="1200">
                          <a:solidFill>
                            <a:srgbClr val="F63B05"/>
                          </a:solidFill>
                          <a:latin typeface="Inter Light"/>
                        </a:rPr>
                        <a:t>13/15</a:t>
                      </a:r>
                    </a:p>
                  </a:txBody>
                  <a:tcPr marL="73152" marR="73152">
                    <a:solidFill>
                      <a:srgbClr val="0A0A0A"/>
                    </a:solidFill>
                  </a:tcPr>
                </a:tc>
                <a:tc>
                  <a:txBody>
                    <a:bodyPr/>
                    <a:lstStyle/>
                    <a:p>
                      <a:pPr algn="ctr"/>
                      <a:r>
                        <a:rPr sz="1200">
                          <a:solidFill>
                            <a:srgbClr val="FFFAE5"/>
                          </a:solidFill>
                          <a:latin typeface="Inter Light"/>
                        </a:rPr>
                        <a:t>13/15</a:t>
                      </a:r>
                    </a:p>
                  </a:txBody>
                  <a:tcPr marL="73152" marR="73152">
                    <a:solidFill>
                      <a:srgbClr val="0A0A0A"/>
                    </a:solidFill>
                  </a:tcPr>
                </a:tc>
                <a:tc>
                  <a:txBody>
                    <a:bodyPr/>
                    <a:lstStyle/>
                    <a:p>
                      <a:pPr algn="ctr"/>
                      <a:r>
                        <a:rPr sz="1200">
                          <a:solidFill>
                            <a:srgbClr val="FFFAE5"/>
                          </a:solidFill>
                          <a:latin typeface="Inter Light"/>
                        </a:rPr>
                        <a:t>4/15</a:t>
                      </a:r>
                    </a:p>
                  </a:txBody>
                  <a:tcPr marL="73152" marR="73152">
                    <a:solidFill>
                      <a:srgbClr val="0A0A0A"/>
                    </a:solidFill>
                  </a:tcPr>
                </a:tc>
                <a:extLst>
                  <a:ext uri="{0D108BD9-81ED-4DB2-BD59-A6C34878D82A}">
                    <a16:rowId xmlns:a16="http://schemas.microsoft.com/office/drawing/2014/main" val="10004"/>
                  </a:ext>
                </a:extLst>
              </a:tr>
              <a:tr h="457200">
                <a:tc>
                  <a:txBody>
                    <a:bodyPr/>
                    <a:lstStyle/>
                    <a:p>
                      <a:pPr algn="l"/>
                      <a:r>
                        <a:rPr sz="1200">
                          <a:solidFill>
                            <a:srgbClr val="FFFAE5"/>
                          </a:solidFill>
                          <a:latin typeface="Inter Light"/>
                        </a:rPr>
                        <a:t>Evidence rate</a:t>
                      </a:r>
                    </a:p>
                  </a:txBody>
                  <a:tcPr marL="73152" marR="73152">
                    <a:solidFill>
                      <a:srgbClr val="141414"/>
                    </a:solidFill>
                  </a:tcPr>
                </a:tc>
                <a:tc>
                  <a:txBody>
                    <a:bodyPr/>
                    <a:lstStyle/>
                    <a:p>
                      <a:pPr algn="ctr"/>
                      <a:r>
                        <a:rPr sz="1200">
                          <a:solidFill>
                            <a:srgbClr val="F63B05"/>
                          </a:solidFill>
                          <a:latin typeface="Inter Light"/>
                        </a:rPr>
                        <a:t>100%</a:t>
                      </a:r>
                    </a:p>
                  </a:txBody>
                  <a:tcPr marL="73152" marR="73152">
                    <a:solidFill>
                      <a:srgbClr val="141414"/>
                    </a:solidFill>
                  </a:tcPr>
                </a:tc>
                <a:tc>
                  <a:txBody>
                    <a:bodyPr/>
                    <a:lstStyle/>
                    <a:p>
                      <a:pPr algn="ctr"/>
                      <a:r>
                        <a:rPr sz="1200">
                          <a:solidFill>
                            <a:srgbClr val="FFFAE5"/>
                          </a:solidFill>
                          <a:latin typeface="Inter Light"/>
                        </a:rPr>
                        <a:t>100%</a:t>
                      </a:r>
                    </a:p>
                  </a:txBody>
                  <a:tcPr marL="73152" marR="73152">
                    <a:solidFill>
                      <a:srgbClr val="141414"/>
                    </a:solidFill>
                  </a:tcPr>
                </a:tc>
                <a:tc>
                  <a:txBody>
                    <a:bodyPr/>
                    <a:lstStyle/>
                    <a:p>
                      <a:pPr algn="ctr"/>
                      <a:r>
                        <a:rPr sz="1200" dirty="0">
                          <a:solidFill>
                            <a:srgbClr val="FFFAE5"/>
                          </a:solidFill>
                          <a:latin typeface="Inter Light"/>
                        </a:rPr>
                        <a:t>96%</a:t>
                      </a:r>
                    </a:p>
                  </a:txBody>
                  <a:tcPr marL="73152" marR="73152">
                    <a:solidFill>
                      <a:srgbClr val="141414"/>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502920" y="4800600"/>
            <a:ext cx="11155680" cy="1737360"/>
          </a:xfrm>
          <a:prstGeom prst="rect">
            <a:avLst/>
          </a:prstGeom>
          <a:noFill/>
        </p:spPr>
        <p:txBody>
          <a:bodyPr wrap="square" lIns="0" tIns="0" rIns="0" bIns="0" anchor="t">
            <a:spAutoFit/>
          </a:bodyPr>
          <a:lstStyle/>
          <a:p>
            <a:pPr algn="l">
              <a:spcAft>
                <a:spcPts val="800"/>
              </a:spcAft>
            </a:pPr>
            <a:r>
              <a:rPr sz="1200" b="1">
                <a:solidFill>
                  <a:srgbClr val="F63B05"/>
                </a:solidFill>
                <a:latin typeface="Inter Light"/>
              </a:rPr>
              <a:t>What it shows: </a:t>
            </a:r>
            <a:r>
              <a:rPr sz="1200" b="0">
                <a:solidFill>
                  <a:srgbClr val="FFFFFF"/>
                </a:solidFill>
                <a:latin typeface="Inter Light"/>
              </a:rPr>
              <a:t>on the same model, splitting the job and letting Python count cuts the NPT error from 3.83 h to 0.47 h per report. The chatbot cannot even add the log up to 24 h. The Critic caught both planted errors before any human saw them.</a:t>
            </a:r>
          </a:p>
          <a:p>
            <a:pPr algn="l">
              <a:spcAft>
                <a:spcPts val="800"/>
              </a:spcAft>
            </a:pPr>
            <a:r>
              <a:rPr sz="1200" b="1">
                <a:solidFill>
                  <a:srgbClr val="F63B05"/>
                </a:solidFill>
                <a:latin typeface="Inter Light"/>
              </a:rPr>
              <a:t>Read it honestly: </a:t>
            </a:r>
            <a:r>
              <a:rPr sz="1200" b="0">
                <a:solidFill>
                  <a:srgbClr val="FFFFFF"/>
                </a:solidFill>
                <a:latin typeface="Inter Light"/>
              </a:rPr>
              <a:t>'No Critic' has a slightly lower error (0.43 h) only because two mistakes cancel on W-02 Day 14. Our two remaining errors are planned work the model labels NPT with high confidence (slip and cut, waiting on cement): the engineer fixes each with one reject comment. Chatbot: latest run; separate runs on other days gave 3.77 h and 4.43 h. Mock fallback: 0.27 h. 48 automated tests pass.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67252" y="4741214"/>
            <a:ext cx="3877636" cy="761980"/>
          </a:xfrm>
          <a:prstGeom prst="rect">
            <a:avLst/>
          </a:prstGeom>
          <a:noFill/>
        </p:spPr>
        <p:txBody>
          <a:bodyPr wrap="square" lIns="0" tIns="0" rIns="0" bIns="0" anchor="t">
            <a:spAutoFit/>
          </a:bodyPr>
          <a:lstStyle/>
          <a:p>
            <a:pPr algn="l"/>
            <a:r>
              <a:rPr sz="1200" b="1">
                <a:solidFill>
                  <a:srgbClr val="FFFFFF"/>
                </a:solidFill>
                <a:latin typeface="Inter Light"/>
              </a:rPr>
              <a:t>LIMITS: </a:t>
            </a:r>
            <a:r>
              <a:rPr sz="1200" b="0">
                <a:solidFill>
                  <a:srgbClr val="FFFFFF"/>
                </a:solidFill>
                <a:latin typeface="Inter Light"/>
              </a:rPr>
              <a:t>synthetic data, six NPT categories, one report format. The 3B model labels some planned work as NPT with high confidence. Not a certified engineering or safety tool.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7680960" y="5074920"/>
            <a:ext cx="4023360" cy="457200"/>
          </a:xfrm>
          <a:prstGeom prst="rect">
            <a:avLst/>
          </a:prstGeom>
          <a:noFill/>
        </p:spPr>
        <p:txBody>
          <a:bodyPr wrap="square" lIns="0" tIns="0" rIns="0" bIns="0" anchor="t">
            <a:spAutoFit/>
          </a:bodyPr>
          <a:lstStyle/>
          <a:p>
            <a:pPr algn="r"/>
            <a:r>
              <a:rPr sz="2000" b="0">
                <a:solidFill>
                  <a:srgbClr val="F63B05"/>
                </a:solidFill>
                <a:latin typeface="Anton"/>
              </a:rPr>
              <a:t>CODE AND DEMO</a:t>
            </a:r>
          </a:p>
        </p:txBody>
      </p:sp>
      <p:sp>
        <p:nvSpPr>
          <p:cNvPr id="4" name="TextBox 3"/>
          <p:cNvSpPr txBox="1"/>
          <p:nvPr/>
        </p:nvSpPr>
        <p:spPr>
          <a:xfrm>
            <a:off x="6766560" y="5577840"/>
            <a:ext cx="4937760" cy="731520"/>
          </a:xfrm>
          <a:prstGeom prst="rect">
            <a:avLst/>
          </a:prstGeom>
          <a:noFill/>
        </p:spPr>
        <p:txBody>
          <a:bodyPr wrap="square" lIns="0" tIns="0" rIns="0" bIns="0" anchor="t">
            <a:spAutoFit/>
          </a:bodyPr>
          <a:lstStyle/>
          <a:p>
            <a:pPr algn="r">
              <a:spcAft>
                <a:spcPts val="200"/>
              </a:spcAft>
            </a:pPr>
            <a:r>
              <a:rPr sz="1300" b="1">
                <a:solidFill>
                  <a:srgbClr val="FFFFFF"/>
                </a:solidFill>
                <a:latin typeface="Inter Light"/>
              </a:rPr>
              <a:t>GitHub: </a:t>
            </a:r>
            <a:r>
              <a:rPr sz="1300" b="0">
                <a:solidFill>
                  <a:srgbClr val="FFFAE5"/>
                </a:solidFill>
                <a:latin typeface="Inter Light"/>
                <a:hlinkClick r:id="rId4"/>
              </a:rPr>
              <a:t>github.com/ranjanvrma/rig-sight</a:t>
            </a:r>
          </a:p>
          <a:p>
            <a:pPr algn="r">
              <a:spcAft>
                <a:spcPts val="200"/>
              </a:spcAft>
            </a:pPr>
            <a:r>
              <a:rPr sz="1300" b="1">
                <a:solidFill>
                  <a:srgbClr val="FFFFFF"/>
                </a:solidFill>
                <a:latin typeface="Inter Light"/>
              </a:rPr>
              <a:t>Live demo: </a:t>
            </a:r>
            <a:r>
              <a:rPr sz="1300" b="0">
                <a:solidFill>
                  <a:srgbClr val="FFFAE5"/>
                </a:solidFill>
                <a:latin typeface="Inter Light"/>
                <a:hlinkClick r:id="rId5"/>
              </a:rPr>
              <a:t>rig-sight.streamlit.app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FFFAE5"/>
      </a:hlink>
      <a:folHlink>
        <a:srgbClr val="FFFAE5"/>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1250</Words>
  <Application>Microsoft Office PowerPoint</Application>
  <PresentationFormat>Widescreen</PresentationFormat>
  <Paragraphs>61</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Anton</vt:lpstr>
      <vt:lpstr>Arial</vt:lpstr>
      <vt:lpstr>Calibri</vt:lpstr>
      <vt:lpstr>Inter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Reading the Rig - Agentic AI for Daily Drilling Reports (CA-3)</dc:title>
  <dc:subject/>
  <dc:creator>Ranjan Verma and Rahul Narkhede</dc:creator>
  <cp:keywords/>
  <dc:description>generated using python-pptx</dc:description>
  <cp:lastModifiedBy>Ranjan Verma</cp:lastModifiedBy>
  <cp:revision>2</cp:revision>
  <dcterms:created xsi:type="dcterms:W3CDTF">2013-01-27T09:14:16Z</dcterms:created>
  <dcterms:modified xsi:type="dcterms:W3CDTF">2026-10-19T17:33:17Z</dcterms:modified>
  <cp:category/>
</cp:coreProperties>
</file>