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>
                <a:solidFill>
                  <a:srgbClr val="FFFAE5"/>
                </a:solidFill>
                <a:latin typeface="Inter Light"/>
              </a:rPr>
              <a:t>Mean NPT hours error per report (lower is better)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NPT hours error per report</c:v>
                </c:pt>
              </c:strCache>
            </c:strRef>
          </c:tx>
          <c:dPt>
            <c:idx val="0"/>
            <c:spPr>
              <a:solidFill>
                <a:srgbClr val="F63B05"/>
              </a:solidFill>
            </c:spPr>
          </c:dPt>
          <c:dPt>
            <c:idx val="1"/>
            <c:spPr>
              <a:solidFill>
                <a:srgbClr val="9A4A30"/>
              </a:solidFill>
            </c:spPr>
          </c:dPt>
          <c:dPt>
            <c:idx val="2"/>
            <c:spPr>
              <a:solidFill>
                <a:srgbClr val="6B665C"/>
              </a:solidFill>
            </c:spPr>
          </c:dPt>
          <c:cat>
            <c:strRef>
              <c:f>Sheet1!$A$2:$A$4</c:f>
              <c:strCache>
                <c:ptCount val="3"/>
                <c:pt idx="0">
                  <c:v>Graph with Critic</c:v>
                </c:pt>
                <c:pt idx="1">
                  <c:v>Graph without Critic</c:v>
                </c:pt>
                <c:pt idx="2">
                  <c:v>Single-prompt chatbot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0.467</c:v>
                </c:pt>
                <c:pt idx="1">
                  <c:v>0.433</c:v>
                </c:pt>
                <c:pt idx="2">
                  <c:v>3.833</c:v>
                </c:pt>
              </c:numCache>
            </c:numRef>
          </c:val>
        </c:ser>
        <c:dLbls>
          <c:numFmt formatCode="0.00&quot; h&quot;" sourceLinked="0"/>
          <c:txPr>
            <a:bodyPr/>
            <a:lstStyle/>
            <a:p>
              <a:pPr>
                <a:defRPr sz="1200">
                  <a:solidFill>
                    <a:srgbClr val="FFFAE5"/>
                  </a:solidFill>
                  <a:latin typeface="Inter Ligh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444444"/>
            </a:solidFill>
          </a:ln>
        </c:spPr>
        <c:txPr>
          <a:bodyPr/>
          <a:lstStyle/>
          <a:p>
            <a:pPr>
              <a:defRPr sz="1100">
                <a:solidFill>
                  <a:srgbClr val="FFFAE5"/>
                </a:solidFill>
                <a:latin typeface="Inter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ourselves. Every rig writes a daily report, lost time hides inside it, and our team of AI agents finds it, checks it and hands it to an engineer to approve.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scene with money: one lost hour is about $16,000 of rig time. Operators that track NPT closely cut it a lot, and big players already pay for agentic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three lines. Lines two and three are lost time, but nothing in the report adds them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NPT has patterns. Today nobody adds it up consistently, so the same failure comes back on the next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one question the whole project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not ChatGPT? A chatbot gives one answer with no checking and guesses numbers. We split the job, use code for the maths and check before a human signs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roles, one shared state. Agents never talk directly; the Orchestrator decides who works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Hub and spoke. The Orchestrator in the middle is plain Python: route() reads the shared DDRState and sends work to the Planner, Research, Executor and Critic. The Executor calls six Python tools through a ToolNode; only classify_activities uses the language model. A Critic FAIL with a fixable problem goes back to the Executor with structured fix hints, at most 3 times. Then report_writer drafts, and human_review pauses the graph with interrupt() until the engineer approves or rejects. recursion_limit is 50; worst case is 32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edges are fixed add_edge calls. Conditional edges come from route() or tools_condition. The red retry loop is what makes it agentic.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Small local models are fine at labelling a sentence but bad at arithmetic. Every number comes from Python, so the Critic can check it exactly. We tried letting the model rephrase the summary; it kept the numbers but attached them to the wrong categories, so the summary is a template by default. No paid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real run with qwen2.5:3b. The key moment is the Critic catching 23.5 h and naming the exact gap. Then the engineer catches what the Critic cannot: a confident mislabel. Both loops are part of the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synthetic, as the brief asks. We planted every event, so each report has a known answer. One trap: 'waited on cement' is planned work, not NPT.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Clean day: zero NPT. Tool failure day: right hours and category. W-02 Day 14: the Critic catches the 23.5 h log. If the live demo does not fit, use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for the live demo. Left is the run: the Critic fails the first pass at 23.5 h and the retry recovers the missing half hour. Right is the final report after the engineer rejected one mislabel and approved.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synthetic report has a known answer, so we can score instead of saying 'it looks good'. Same 15 reports, same model, three configurations.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model for all three runs, so the comparison is fair. Point at the chatbot bar first, then ours. Then be honest about the no-Critic number and the two confident mislabels: that is why the engineer approves every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 about limits. It is a PoC on synthetic data. The human stays in the loop because the model makes confident mistakes and the industry has not settled how much to trust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number computed, every flag sourced, every report approved by a person.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11 sources. Source numbers match the small (Source N) tags on the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rchitectur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-27432"/>
            <a:ext cx="11521440" cy="69128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4057" y="5858786"/>
            <a:ext cx="5477796" cy="5757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 Light"/>
              </a:rPr>
              <a:t>THE MODEL READS: </a:t>
            </a:r>
            <a:r>
              <a:rPr sz="1200" b="0">
                <a:solidFill>
                  <a:srgbClr val="FFFFFF"/>
                </a:solidFill>
                <a:latin typeface="Inter Light"/>
              </a:rPr>
              <a:t>a local Ollama model (qwen2.5:3b) only labels each log line with an NPT category and a confidence score. It does not write the numbers: in testing it swapped which hours belonged to which category. A mock classifier is the fallback and is always shown as mock.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30033" y="3471246"/>
            <a:ext cx="2565335" cy="3344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Inter Light"/>
              </a:rPr>
              <a:t>1 PLAN AND RESEARCH </a:t>
            </a:r>
            <a:r>
              <a:rPr sz="1100" b="0">
                <a:solidFill>
                  <a:srgbClr val="FFFFFF"/>
                </a:solidFill>
                <a:latin typeface="Inter Light"/>
              </a:rPr>
              <a:t>Well W-02, Day 14. The Planner makes 9 tasks. Research finds 2,650 m planned against 2,610 m actual and two past MWD failures on this field.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Inter Light"/>
              </a:rPr>
              <a:t>2 EXECUTE AND CHECK </a:t>
            </a:r>
            <a:r>
              <a:rPr sz="1100" b="0">
                <a:solidFill>
                  <a:srgbClr val="FFFFFF"/>
                </a:solidFill>
                <a:latin typeface="Inter Light"/>
              </a:rPr>
              <a:t>Tools label 5.5 h of tool failure. The Critic sees 23.5 h, names the 20:30-21:00 gap and sends it back. The retry finds it in REMARKS: 24.0 h, PASS.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Inter Light"/>
              </a:rPr>
              <a:t>3 ENGINEER DECIDES </a:t>
            </a:r>
            <a:r>
              <a:rPr sz="1100" b="0">
                <a:solidFill>
                  <a:srgbClr val="FFFFFF"/>
                </a:solidFill>
                <a:latin typeface="Inter Light"/>
              </a:rPr>
              <a:t>The model also called 'slip and cut' (3 h) NPT. The engineer rejects with 'line 7 is planned', the graph re-runs: 8.0 h NPT, approved.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20" y="533386"/>
            <a:ext cx="1032907" cy="4741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898244" y="524920"/>
            <a:ext cx="2700799" cy="499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700" b="0">
                <a:solidFill>
                  <a:srgbClr val="F63B05"/>
                </a:solidFill>
                <a:latin typeface="Anton"/>
              </a:rPr>
              <a:t>THE APP,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FFFAE5"/>
                </a:solidFill>
                <a:latin typeface="Anton"/>
              </a:rPr>
              <a:t>W-02 · DAY 14, REAL RUN</a:t>
            </a:r>
          </a:p>
        </p:txBody>
      </p:sp>
      <p:pic>
        <p:nvPicPr>
          <p:cNvPr id="5" name="Picture 4" descr="app_w02d14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19"/>
            <a:ext cx="5852160" cy="2993235"/>
          </a:xfrm>
          <a:prstGeom prst="rect">
            <a:avLst/>
          </a:prstGeom>
        </p:spPr>
      </p:pic>
      <p:pic>
        <p:nvPicPr>
          <p:cNvPr id="6" name="Picture 5" descr="app_w02d14_approv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874519"/>
            <a:ext cx="5013655" cy="36301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687504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63B05"/>
                </a:solidFill>
                <a:latin typeface="Inter Light"/>
              </a:rPr>
              <a:t>Run: </a:t>
            </a:r>
            <a:r>
              <a:rPr sz="1200" b="0">
                <a:solidFill>
                  <a:srgbClr val="FFFFFF"/>
                </a:solidFill>
                <a:latin typeface="Inter Light"/>
              </a:rPr>
              <a:t>each NPT line labelled with category · hours · model confidence; the 20:30-21:00 line recovered from REMARKS after the Critic's FAIL; the live agent trace.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5687504"/>
            <a:ext cx="50136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63B05"/>
                </a:solidFill>
                <a:latin typeface="Inter Light"/>
              </a:rPr>
              <a:t>After review: </a:t>
            </a:r>
            <a:r>
              <a:rPr sz="1200" b="0">
                <a:solidFill>
                  <a:srgbClr val="FFFFFF"/>
                </a:solidFill>
                <a:latin typeface="Inter Light"/>
              </a:rPr>
              <a:t>the engineer rejected one mislabel (line 7, slip and cut), the graph re-ran: 8.0 h NPT, approved.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01917" y="3708307"/>
            <a:ext cx="2624601" cy="694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63B05"/>
                </a:solidFill>
                <a:latin typeface="Inter Light"/>
              </a:rPr>
              <a:t>RESULTS (qwen2.5:3b, 15 reports): </a:t>
            </a:r>
            <a:r>
              <a:rPr sz="1200" b="0">
                <a:solidFill>
                  <a:srgbClr val="FFFFFF"/>
                </a:solidFill>
                <a:latin typeface="Inter Light"/>
              </a:rPr>
              <a:t>NPT error 0.47 h per report for our graph vs 3.83 h for a chatbot on the same model. Next slide.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20" y="533386"/>
            <a:ext cx="1032907" cy="4741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898244" y="524920"/>
            <a:ext cx="2700799" cy="499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700" b="0">
                <a:solidFill>
                  <a:srgbClr val="F63B05"/>
                </a:solidFill>
                <a:latin typeface="Anton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FFFAE5"/>
                </a:solidFill>
                <a:latin typeface="Anton"/>
              </a:rPr>
              <a:t>SAME MODEL, 15 REPORTS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1783080"/>
          <a:ext cx="512064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35040" y="1783080"/>
          <a:ext cx="5669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234440"/>
                <a:gridCol w="1234440"/>
                <a:gridCol w="12344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AE5"/>
                          </a:solidFill>
                          <a:latin typeface="Anton"/>
                        </a:rPr>
                        <a:t/>
                      </a:r>
                    </a:p>
                  </a:txBody>
                  <a:tcPr marL="73152" marR="73152"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AE5"/>
                          </a:solidFill>
                          <a:latin typeface="Anton"/>
                        </a:rPr>
                        <a:t>With Critic</a:t>
                      </a:r>
                    </a:p>
                  </a:txBody>
                  <a:tcPr marL="73152" marR="73152"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AE5"/>
                          </a:solidFill>
                          <a:latin typeface="Anton"/>
                        </a:rPr>
                        <a:t>No Critic</a:t>
                      </a:r>
                    </a:p>
                  </a:txBody>
                  <a:tcPr marL="73152" marR="73152"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AE5"/>
                          </a:solidFill>
                          <a:latin typeface="Anton"/>
                        </a:rPr>
                        <a:t>Chatbot</a:t>
                      </a:r>
                    </a:p>
                  </a:txBody>
                  <a:tcPr marL="73152" marR="73152">
                    <a:solidFill>
                      <a:srgbClr val="1E1E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AE5"/>
                          </a:solidFill>
                          <a:latin typeface="Inter Light"/>
                        </a:rPr>
                        <a:t>Category accuracy</a:t>
                      </a:r>
                    </a:p>
                  </a:txBody>
                  <a:tcPr marL="73152" marR="73152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63B05"/>
                          </a:solidFill>
                          <a:latin typeface="Inter Light"/>
                        </a:rPr>
                        <a:t>100%</a:t>
                      </a:r>
                    </a:p>
                  </a:txBody>
                  <a:tcPr marL="73152" marR="73152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AE5"/>
                          </a:solidFill>
                          <a:latin typeface="Inter Light"/>
                        </a:rPr>
                        <a:t>96.6%</a:t>
                      </a:r>
                    </a:p>
                  </a:txBody>
                  <a:tcPr marL="73152" marR="73152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AE5"/>
                          </a:solidFill>
                          <a:latin typeface="Inter Light"/>
                        </a:rPr>
                        <a:t>76%</a:t>
                      </a:r>
                    </a:p>
                  </a:txBody>
                  <a:tcPr marL="73152" marR="73152">
                    <a:solidFill>
                      <a:srgbClr val="1414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AE5"/>
                          </a:solidFill>
                          <a:latin typeface="Inter Light"/>
                        </a:rPr>
                        <a:t>Critic catch rate</a:t>
                      </a:r>
                    </a:p>
                  </a:txBody>
                  <a:tcPr marL="73152" marR="73152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63B05"/>
                          </a:solidFill>
                          <a:latin typeface="Inter Light"/>
                        </a:rPr>
                        <a:t>2 / 2</a:t>
                      </a:r>
                    </a:p>
                  </a:txBody>
                  <a:tcPr marL="73152" marR="73152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AE5"/>
                          </a:solidFill>
                          <a:latin typeface="Inter Light"/>
                        </a:rPr>
                        <a:t>n/a</a:t>
                      </a:r>
                    </a:p>
                  </a:txBody>
                  <a:tcPr marL="73152" marR="73152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AE5"/>
                          </a:solidFill>
                          <a:latin typeface="Inter Light"/>
                        </a:rPr>
                        <a:t>n/a</a:t>
                      </a:r>
                    </a:p>
                  </a:txBody>
                  <a:tcPr marL="73152" marR="73152">
                    <a:solidFill>
                      <a:srgbClr val="0A0A0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AE5"/>
                          </a:solidFill>
                          <a:latin typeface="Inter Light"/>
                        </a:rPr>
                        <a:t>Logs adding to 24 h</a:t>
                      </a:r>
                    </a:p>
                  </a:txBody>
                  <a:tcPr marL="73152" marR="73152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63B05"/>
                          </a:solidFill>
                          <a:latin typeface="Inter Light"/>
                        </a:rPr>
                        <a:t>15/15</a:t>
                      </a:r>
                    </a:p>
                  </a:txBody>
                  <a:tcPr marL="73152" marR="73152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AE5"/>
                          </a:solidFill>
                          <a:latin typeface="Inter Light"/>
                        </a:rPr>
                        <a:t>13/15</a:t>
                      </a:r>
                    </a:p>
                  </a:txBody>
                  <a:tcPr marL="73152" marR="73152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AE5"/>
                          </a:solidFill>
                          <a:latin typeface="Inter Light"/>
                        </a:rPr>
                        <a:t>1/15</a:t>
                      </a:r>
                    </a:p>
                  </a:txBody>
                  <a:tcPr marL="73152" marR="73152">
                    <a:solidFill>
                      <a:srgbClr val="1414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AE5"/>
                          </a:solidFill>
                          <a:latin typeface="Inter Light"/>
                        </a:rPr>
                        <a:t>Reports exactly right</a:t>
                      </a:r>
                    </a:p>
                  </a:txBody>
                  <a:tcPr marL="73152" marR="73152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63B05"/>
                          </a:solidFill>
                          <a:latin typeface="Inter Light"/>
                        </a:rPr>
                        <a:t>13/15</a:t>
                      </a:r>
                    </a:p>
                  </a:txBody>
                  <a:tcPr marL="73152" marR="73152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AE5"/>
                          </a:solidFill>
                          <a:latin typeface="Inter Light"/>
                        </a:rPr>
                        <a:t>13/15</a:t>
                      </a:r>
                    </a:p>
                  </a:txBody>
                  <a:tcPr marL="73152" marR="73152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AE5"/>
                          </a:solidFill>
                          <a:latin typeface="Inter Light"/>
                        </a:rPr>
                        <a:t>4/15</a:t>
                      </a:r>
                    </a:p>
                  </a:txBody>
                  <a:tcPr marL="73152" marR="73152">
                    <a:solidFill>
                      <a:srgbClr val="0A0A0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AE5"/>
                          </a:solidFill>
                          <a:latin typeface="Inter Light"/>
                        </a:rPr>
                        <a:t>Evidence rate</a:t>
                      </a:r>
                    </a:p>
                  </a:txBody>
                  <a:tcPr marL="73152" marR="73152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63B05"/>
                          </a:solidFill>
                          <a:latin typeface="Inter Light"/>
                        </a:rPr>
                        <a:t>100%</a:t>
                      </a:r>
                    </a:p>
                  </a:txBody>
                  <a:tcPr marL="73152" marR="73152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AE5"/>
                          </a:solidFill>
                          <a:latin typeface="Inter Light"/>
                        </a:rPr>
                        <a:t>100%</a:t>
                      </a:r>
                    </a:p>
                  </a:txBody>
                  <a:tcPr marL="73152" marR="73152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AE5"/>
                          </a:solidFill>
                          <a:latin typeface="Inter Light"/>
                        </a:rPr>
                        <a:t>96%</a:t>
                      </a:r>
                    </a:p>
                  </a:txBody>
                  <a:tcPr marL="73152" marR="73152">
                    <a:solidFill>
                      <a:srgbClr val="14141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800600"/>
            <a:ext cx="111556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F63B05"/>
                </a:solidFill>
                <a:latin typeface="Inter Light"/>
              </a:rPr>
              <a:t>What it shows: </a:t>
            </a:r>
            <a:r>
              <a:rPr sz="1200" b="0">
                <a:solidFill>
                  <a:srgbClr val="FFFFFF"/>
                </a:solidFill>
                <a:latin typeface="Inter Light"/>
              </a:rPr>
              <a:t>on the same model, splitting the job and letting Python count cuts the NPT error from 3.83 h to 0.47 h per report. The chatbot cannot even add the log up to 24 h. The Critic caught both planted errors before any human saw them.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63B05"/>
                </a:solidFill>
                <a:latin typeface="Inter Light"/>
              </a:rPr>
              <a:t>Read it honestly: </a:t>
            </a:r>
            <a:r>
              <a:rPr sz="1200" b="0">
                <a:solidFill>
                  <a:srgbClr val="FFFFFF"/>
                </a:solidFill>
                <a:latin typeface="Inter Light"/>
              </a:rPr>
              <a:t>'No Critic' has a slightly lower error (0.43 h) only because two mistakes cancel on W-02 Day 14. Our two remaining errors are planned work the model labels NPT with high confidence (slip and cut, waiting on cement): the engineer fixes each with one reject comment. Chatbot: latest run; separate runs on other days gave 3.77 h and 4.43 h. Mock fallback: 0.27 h. 48 automated tests pass.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7252" y="4741214"/>
            <a:ext cx="3877636" cy="761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 Light"/>
              </a:rPr>
              <a:t>LIMITS: </a:t>
            </a:r>
            <a:r>
              <a:rPr sz="1200" b="0">
                <a:solidFill>
                  <a:srgbClr val="FFFFFF"/>
                </a:solidFill>
                <a:latin typeface="Inter Light"/>
              </a:rPr>
              <a:t>synthetic data, six NPT categories, one report format. The 3B model labels some planned work as NPT with high confidence. Not a certified engineering or safety tool.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Reading the Rig - Agentic AI for Daily Drilling Reports (CA-3)</dc:title>
  <dc:subject/>
  <dc:creator>Ranjan Verma and Rahul Narkhede</dc:creator>
  <cp:keywords/>
  <dc:description>generated using python-pptx</dc:description>
  <cp:lastModifiedBy>Ranjan Verma</cp:lastModifiedBy>
  <cp:revision>1</cp:revision>
  <dcterms:created xsi:type="dcterms:W3CDTF">2013-01-27T09:14:16Z</dcterms:created>
  <dcterms:modified xsi:type="dcterms:W3CDTF">2013-01-27T09:15:58Z</dcterms:modified>
  <cp:category/>
</cp:coreProperties>
</file>