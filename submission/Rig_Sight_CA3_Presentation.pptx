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5.svg" ContentType="image/svg+xml"/>
  <Override PartName="/ppt/media/image19.svg" ContentType="image/svg+xml"/>
  <Override PartName="/ppt/media/image2.svg" ContentType="image/svg+xml"/>
  <Override PartName="/ppt/media/image23.svg" ContentType="image/svg+xml"/>
  <Override PartName="/ppt/media/image31.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Anton" charset="1" panose="00000500000000000000"/>
      <p:regular r:id="rId26"/>
    </p:embeddedFont>
    <p:embeddedFont>
      <p:font typeface="Amsterdam Four" charset="1" panose="02000500000000000000"/>
      <p:regular r:id="rId27"/>
    </p:embeddedFont>
    <p:embeddedFont>
      <p:font typeface="Open Sauce" charset="1" panose="00000500000000000000"/>
      <p:regular r:id="rId28"/>
    </p:embeddedFont>
    <p:embeddedFont>
      <p:font typeface="Open Sauce Light" charset="1" panose="00000400000000000000"/>
      <p:regular r:id="rId30"/>
    </p:embeddedFont>
    <p:embeddedFont>
      <p:font typeface="Liberation Sans Bold" charset="1" panose="020B0704020202020204"/>
      <p:regular r:id="rId37"/>
    </p:embeddedFont>
    <p:embeddedFont>
      <p:font typeface="Liberation Sans" charset="1" panose="020B0604020202020204"/>
      <p:regular r:id="rId38"/>
    </p:embeddedFont>
    <p:embeddedFont>
      <p:font typeface="Liberation Sans Italics" charset="1" panose="020B0604020202090204"/>
      <p:regular r:id="rId39"/>
    </p:embeddedFont>
    <p:embeddedFont>
      <p:font typeface="Montserrat" charset="1" panose="00000500000000000000"/>
      <p:regular r:id="rId40"/>
    </p:embeddedFont>
    <p:embeddedFont>
      <p:font typeface="Inter" charset="1" panose="02000503000000020004"/>
      <p:regular r:id="rId41"/>
    </p:embeddedFont>
    <p:embeddedFont>
      <p:font typeface="DejaVu Sans Light" charset="1" panose="020B0603030804020204"/>
      <p:regular r:id="rId42"/>
    </p:embeddedFont>
    <p:embeddedFont>
      <p:font typeface="WenQuanYi" charset="1" panose="020B0606030804020204"/>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theme" Target="theme/theme2.xml"/><Relationship Id="rId25" Type="http://schemas.openxmlformats.org/officeDocument/2006/relationships/notesSlide" Target="notesSlides/notesSlide1.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notesSlide" Target="notesSlides/notesSlide2.xml"/><Relationship Id="rId30" Type="http://schemas.openxmlformats.org/officeDocument/2006/relationships/font" Target="fonts/font30.fntdata"/><Relationship Id="rId31" Type="http://schemas.openxmlformats.org/officeDocument/2006/relationships/notesSlide" Target="notesSlides/notesSlide3.xml"/><Relationship Id="rId32" Type="http://schemas.openxmlformats.org/officeDocument/2006/relationships/notesSlide" Target="notesSlides/notesSlide4.xml"/><Relationship Id="rId33" Type="http://schemas.openxmlformats.org/officeDocument/2006/relationships/notesSlide" Target="notesSlides/notesSlide5.xml"/><Relationship Id="rId34" Type="http://schemas.openxmlformats.org/officeDocument/2006/relationships/notesSlide" Target="notesSlides/notesSlide6.xml"/><Relationship Id="rId35" Type="http://schemas.openxmlformats.org/officeDocument/2006/relationships/notesSlide" Target="notesSlides/notesSlide7.xml"/><Relationship Id="rId36" Type="http://schemas.openxmlformats.org/officeDocument/2006/relationships/notesSlide" Target="notesSlides/notesSlide8.xml"/><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font" Target="fonts/font39.fntdata"/><Relationship Id="rId40" Type="http://schemas.openxmlformats.org/officeDocument/2006/relationships/font" Target="fonts/font40.fntdata"/><Relationship Id="rId41" Type="http://schemas.openxmlformats.org/officeDocument/2006/relationships/font" Target="fonts/font41.fntdata"/><Relationship Id="rId42" Type="http://schemas.openxmlformats.org/officeDocument/2006/relationships/font" Target="fonts/font42.fntdata"/><Relationship Id="rId43" Type="http://schemas.openxmlformats.org/officeDocument/2006/relationships/font" Target="fonts/font43.fntdata"/><Relationship Id="rId44" Type="http://schemas.openxmlformats.org/officeDocument/2006/relationships/notesSlide" Target="notesSlides/notesSlide9.xml"/><Relationship Id="rId45" Type="http://schemas.openxmlformats.org/officeDocument/2006/relationships/notesSlide" Target="notesSlides/notesSlide10.xml"/><Relationship Id="rId46" Type="http://schemas.openxmlformats.org/officeDocument/2006/relationships/notesSlide" Target="notesSlides/notesSlide11.xml"/><Relationship Id="rId47" Type="http://schemas.openxmlformats.org/officeDocument/2006/relationships/notesSlide" Target="notesSlides/notesSlide12.xml"/><Relationship Id="rId48" Type="http://schemas.openxmlformats.org/officeDocument/2006/relationships/notesSlide" Target="notesSlides/notesSlide13.xml"/><Relationship Id="rId49" Type="http://schemas.openxmlformats.org/officeDocument/2006/relationships/notesSlide" Target="notesSlides/notesSlide14.xml"/><Relationship Id="rId50" Type="http://schemas.openxmlformats.org/officeDocument/2006/relationships/notesSlide" Target="notesSlides/notesSlide15.xml"/><Relationship Id="rId51" Type="http://schemas.openxmlformats.org/officeDocument/2006/relationships/notesSlide" Target="notesSlides/notesSlide16.xml"/><Relationship Id="rId52" Type="http://schemas.openxmlformats.org/officeDocument/2006/relationships/notesSlide" Target="notesSlides/not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Introduce ourselves. One line on the idea: every rig writes a daily report, lost time hides inside it, and our team of AI agents finds it, checks it and hands it to an engineer to approve.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Set the scene with money. Drilling and completion is the biggest part of offshore capital spend. A drillship costs close to 400 thousand dollars a day so one lost hour is around 16 thousand dollars of rig time. Operators that track NPT closely have cut it a lot. And big players like ADNOC are already paying for agentic AI, so this is a real direction for the industry, not just a class idea.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what a DDR is. Read out the three sample lines. Point out that line two and line three are lost time but nothing in the report adds them up. That is the gap our system fills.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NPT means non-productive time: hours the rig is paid for but the well does not move forward. In one study of the Lobo trend two causes alone made up about three quarters of it. The point is that NPT has patterns, so if you track it properly you can learn from it. Today nobody adds it up consistently.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one question the whole project answers. Read it out, then read our answer on the right.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answers the question everyone will ask: why not just use ChatGPT on the report? A chatbot gives one answer with no checking and guesses numbers. Our system splits the job, uses code for the maths and checks itself before a human signs off.</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through the roles in the order they run. Stress that agents never talk to each other directly. They all read and write the same shared state and the Orchestrator decides the order. The engineer is part of the graph, not an afterthought.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diagram as a hub and spoke: the Orchestrator in the middle, Planner, Research, Executor and Critic around it, the ToolNode for exact calculations, the incident memory and reference data at the bottom, and the engineer review as a LangGraph interrupt before the final report. Follow the numbered arrows 1 to 15. The yellow box is the shared state every node reads and writes.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Each arrow type has its own colour and line style in the diagram. Normal edges are fixed add_edge calls. Conditional edges come from add_conditional_edges with our route function. The red retry loop is what makes this agentic: the system corrects itself before a human sees the result.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design choice is what keeps the system explainable. Language models are good at reading a sentence and picking a label, but unreliable at arithmetic. So every number comes from Python, and the Critic can check those numbers exactly. The model runs on Groq's free tier, so no paid API is needed.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one report from our synthetic set, run with gpt-oss-20b on Groq. Walk through it in three steps. The key moment is the Critic catching that the hours only add to 23.5. A plain chatbot would not notice that. The retry fixes it, and the engineer approves a report that matches the answer key. When the model does mislabel a line, as it did with a routine flow check on W-02 Day 11, the engineer rejects with one comment such as 'line 6 is planned, not NPT' and the graph re-runs.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All data is synthetic, as the brief asks. Because we wrote every report and planted every event, we know the right answer for each one. That is what lets us measure accuracy on the next slides instead of just saying the output looks good.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 the live demo at rig-sight.onrender.com we show three reports. A clean day should give zero NPT. A tool failure day should give the right hours and category. The third has a time log that adds to 23.5 hours, and the Critic should catch it and send it back before the engineer sees 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comparison with a single prompt chatbot is how we show this is more than a chatbot. Results with gpt-oss-20b on Groq, all 15 reports: 0.07 h error per report against 0.57 h for the chatbot on the same model, 100% category accuracy, every log adds up to 24 h, and the Critic caught both planted errors. Without the Critic the error rises to 0.77 h.</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Be honest about limits. The data is synthetic and the category list is short, so this is a proof of concept, not a product. The next steps show how it could grow: real data feeds, more wells and learning from the engineer's feedback. The human stays in the loop because the industry itself has not settled how much to trust agents.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with the three ideas: every number is computed, every flag is sourced and every report is approved by a person. Then take questions.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1 to 4 and 9 to 11 back the industry and NPT figures. Sources 5 to 8 are the tools we build with. Source numbers match the small (Source N) tags on earlier slides.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5.png"/><Relationship Id="rId8"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image" Target="../media/image11.png"/><Relationship Id="rId8"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image" Target="../media/image1.png"/><Relationship Id="rId9" Type="http://schemas.openxmlformats.org/officeDocument/2006/relationships/image" Target="../media/image2.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20.pn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image" Target="../media/image9.png"/><Relationship Id="rId7"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6.png"/><Relationship Id="rId4" Type="http://schemas.openxmlformats.org/officeDocument/2006/relationships/image" Target="../media/image9.png"/><Relationship Id="rId5"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7.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28.pn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image" Target="../media/image1.png"/><Relationship Id="rId9"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30.png"/><Relationship Id="rId8" Type="http://schemas.openxmlformats.org/officeDocument/2006/relationships/image" Target="../media/image31.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4.png"/><Relationship Id="rId6" Type="http://schemas.openxmlformats.org/officeDocument/2006/relationships/image" Target="../media/image15.sv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0">
            <a:off x="281940" y="762000"/>
            <a:ext cx="17723650" cy="7715250"/>
          </a:xfrm>
          <a:prstGeom prst="rect">
            <a:avLst/>
          </a:prstGeom>
        </p:spPr>
        <p:txBody>
          <a:bodyPr anchor="t" rtlCol="false" tIns="0" lIns="0" bIns="0" rIns="0">
            <a:spAutoFit/>
          </a:bodyPr>
          <a:lstStyle/>
          <a:p>
            <a:pPr algn="ctr" marL="0" indent="0" lvl="0">
              <a:lnSpc>
                <a:spcPts val="63000"/>
              </a:lnSpc>
              <a:spcBef>
                <a:spcPct val="0"/>
              </a:spcBef>
            </a:pPr>
            <a:r>
              <a:rPr lang="en-US" sz="45000" spc="-1125" strike="noStrike" u="none">
                <a:solidFill>
                  <a:srgbClr val="FFFAE5"/>
                </a:solidFill>
                <a:latin typeface="Anton"/>
                <a:ea typeface="Anton"/>
                <a:cs typeface="Anton"/>
                <a:sym typeface="Anton"/>
              </a:rPr>
              <a:t>DRILLING</a:t>
            </a:r>
          </a:p>
        </p:txBody>
      </p:sp>
      <p:sp>
        <p:nvSpPr>
          <p:cNvPr name="Freeform 3" id="3"/>
          <p:cNvSpPr/>
          <p:nvPr/>
        </p:nvSpPr>
        <p:spPr>
          <a:xfrm flipH="false" flipV="false" rot="0">
            <a:off x="9832186"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471628"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4158253" y="6264546"/>
            <a:ext cx="31192128" cy="22769266"/>
          </a:xfrm>
          <a:custGeom>
            <a:avLst/>
            <a:gdLst/>
            <a:ahLst/>
            <a:cxnLst/>
            <a:rect r="r" b="b" t="t" l="l"/>
            <a:pathLst>
              <a:path h="22769266" w="31192128">
                <a:moveTo>
                  <a:pt x="0" y="0"/>
                </a:moveTo>
                <a:lnTo>
                  <a:pt x="31192128" y="0"/>
                </a:lnTo>
                <a:lnTo>
                  <a:pt x="31192128" y="22769266"/>
                </a:lnTo>
                <a:lnTo>
                  <a:pt x="0" y="2276926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6033164" y="8934831"/>
            <a:ext cx="1547025" cy="646938"/>
          </a:xfrm>
          <a:custGeom>
            <a:avLst/>
            <a:gdLst/>
            <a:ahLst/>
            <a:cxnLst/>
            <a:rect r="r" b="b" t="t" l="l"/>
            <a:pathLst>
              <a:path h="646938" w="1547025">
                <a:moveTo>
                  <a:pt x="0" y="0"/>
                </a:moveTo>
                <a:lnTo>
                  <a:pt x="1547025" y="0"/>
                </a:lnTo>
                <a:lnTo>
                  <a:pt x="1547025" y="646938"/>
                </a:lnTo>
                <a:lnTo>
                  <a:pt x="0" y="64693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4869024" y="3438390"/>
            <a:ext cx="7927515" cy="4798524"/>
          </a:xfrm>
          <a:prstGeom prst="rect">
            <a:avLst/>
          </a:prstGeom>
        </p:spPr>
        <p:txBody>
          <a:bodyPr anchor="t" rtlCol="false" tIns="0" lIns="0" bIns="0" rIns="0">
            <a:spAutoFit/>
          </a:bodyPr>
          <a:lstStyle/>
          <a:p>
            <a:pPr algn="ctr" marL="0" indent="0" lvl="0">
              <a:lnSpc>
                <a:spcPts val="19272"/>
              </a:lnSpc>
              <a:spcBef>
                <a:spcPct val="0"/>
              </a:spcBef>
            </a:pPr>
            <a:r>
              <a:rPr lang="en-US" sz="13765" strike="noStrike" u="none">
                <a:solidFill>
                  <a:srgbClr val="000000"/>
                </a:solidFill>
                <a:latin typeface="Amsterdam Four"/>
                <a:ea typeface="Amsterdam Four"/>
                <a:cs typeface="Amsterdam Four"/>
                <a:sym typeface="Amsterdam Four"/>
              </a:rPr>
              <a:t>Agentic AI</a:t>
            </a:r>
          </a:p>
        </p:txBody>
      </p:sp>
      <p:sp>
        <p:nvSpPr>
          <p:cNvPr name="TextBox 8" id="8"/>
          <p:cNvSpPr txBox="true"/>
          <p:nvPr/>
        </p:nvSpPr>
        <p:spPr>
          <a:xfrm rot="0">
            <a:off x="15564258" y="7273185"/>
            <a:ext cx="2209498" cy="306705"/>
          </a:xfrm>
          <a:prstGeom prst="rect">
            <a:avLst/>
          </a:prstGeom>
        </p:spPr>
        <p:txBody>
          <a:bodyPr anchor="t" rtlCol="false" tIns="0" lIns="0" bIns="0" rIns="0">
            <a:spAutoFit/>
          </a:bodyPr>
          <a:lstStyle/>
          <a:p>
            <a:pPr algn="just" marL="0" indent="0" lvl="0">
              <a:lnSpc>
                <a:spcPts val="2520"/>
              </a:lnSpc>
              <a:spcBef>
                <a:spcPct val="0"/>
              </a:spcBef>
            </a:pPr>
            <a:r>
              <a:rPr lang="en-US" sz="1800" strike="noStrike" u="none">
                <a:solidFill>
                  <a:srgbClr val="FF3131"/>
                </a:solidFill>
                <a:latin typeface="Open Sauce"/>
                <a:ea typeface="Open Sauce"/>
                <a:cs typeface="Open Sauce"/>
                <a:sym typeface="Open Sauce"/>
              </a:rPr>
              <a:t>LANGGRAPH</a:t>
            </a:r>
          </a:p>
        </p:txBody>
      </p:sp>
      <p:sp>
        <p:nvSpPr>
          <p:cNvPr name="TextBox 9" id="9"/>
          <p:cNvSpPr txBox="true"/>
          <p:nvPr/>
        </p:nvSpPr>
        <p:spPr>
          <a:xfrm rot="-5400000">
            <a:off x="13804500" y="4007189"/>
            <a:ext cx="3750022" cy="306705"/>
          </a:xfrm>
          <a:prstGeom prst="rect">
            <a:avLst/>
          </a:prstGeom>
        </p:spPr>
        <p:txBody>
          <a:bodyPr anchor="t" rtlCol="false" tIns="0" lIns="0" bIns="0" rIns="0">
            <a:spAutoFit/>
          </a:bodyPr>
          <a:lstStyle/>
          <a:p>
            <a:pPr algn="r" marL="0" indent="0" lvl="0">
              <a:lnSpc>
                <a:spcPts val="2520"/>
              </a:lnSpc>
              <a:spcBef>
                <a:spcPct val="0"/>
              </a:spcBef>
            </a:pPr>
            <a:r>
              <a:rPr lang="en-US" sz="1800" strike="noStrike" u="none">
                <a:solidFill>
                  <a:srgbClr val="FF3131"/>
                </a:solidFill>
                <a:latin typeface="Open Sauce"/>
                <a:ea typeface="Open Sauce"/>
                <a:cs typeface="Open Sauce"/>
                <a:sym typeface="Open Sauce"/>
              </a:rPr>
              <a:t>NPT DETECTION</a:t>
            </a:r>
          </a:p>
        </p:txBody>
      </p:sp>
      <p:sp>
        <p:nvSpPr>
          <p:cNvPr name="TextBox 10" id="10"/>
          <p:cNvSpPr txBox="true"/>
          <p:nvPr/>
        </p:nvSpPr>
        <p:spPr>
          <a:xfrm rot="0">
            <a:off x="14984094" y="516053"/>
            <a:ext cx="2596096" cy="309753"/>
          </a:xfrm>
          <a:prstGeom prst="rect">
            <a:avLst/>
          </a:prstGeom>
        </p:spPr>
        <p:txBody>
          <a:bodyPr anchor="t" rtlCol="false" tIns="0" lIns="0" bIns="0" rIns="0">
            <a:spAutoFit/>
          </a:bodyPr>
          <a:lstStyle/>
          <a:p>
            <a:pPr algn="r" marL="0" indent="0" lvl="0">
              <a:lnSpc>
                <a:spcPts val="2331"/>
              </a:lnSpc>
              <a:spcBef>
                <a:spcPct val="0"/>
              </a:spcBef>
            </a:pPr>
            <a:r>
              <a:rPr lang="en-US" sz="2100" strike="noStrike" u="none">
                <a:solidFill>
                  <a:srgbClr val="FFFAE5"/>
                </a:solidFill>
                <a:latin typeface="Open Sauce"/>
                <a:ea typeface="Open Sauce"/>
                <a:cs typeface="Open Sauce"/>
                <a:sym typeface="Open Sauce"/>
              </a:rPr>
              <a:t>TY AI-ML B · SIT</a:t>
            </a:r>
          </a:p>
        </p:txBody>
      </p:sp>
      <p:sp>
        <p:nvSpPr>
          <p:cNvPr name="TextBox 11" id="11"/>
          <p:cNvSpPr txBox="true"/>
          <p:nvPr/>
        </p:nvSpPr>
        <p:spPr>
          <a:xfrm rot="0">
            <a:off x="8084068" y="544628"/>
            <a:ext cx="2119864" cy="576453"/>
          </a:xfrm>
          <a:prstGeom prst="rect">
            <a:avLst/>
          </a:prstGeom>
        </p:spPr>
        <p:txBody>
          <a:bodyPr anchor="t" rtlCol="false" tIns="0" lIns="0" bIns="0" rIns="0">
            <a:spAutoFit/>
          </a:bodyPr>
          <a:lstStyle/>
          <a:p>
            <a:pPr algn="ctr" marL="0" indent="0" lvl="0">
              <a:lnSpc>
                <a:spcPts val="4486"/>
              </a:lnSpc>
              <a:spcBef>
                <a:spcPct val="0"/>
              </a:spcBef>
            </a:pPr>
            <a:r>
              <a:rPr lang="en-US" sz="4042" strike="noStrike" u="none">
                <a:solidFill>
                  <a:srgbClr val="FFFAE5"/>
                </a:solidFill>
                <a:latin typeface="Anton"/>
                <a:ea typeface="Anton"/>
                <a:cs typeface="Anton"/>
                <a:sym typeface="Anton"/>
              </a:rPr>
              <a:t>2026</a:t>
            </a:r>
          </a:p>
        </p:txBody>
      </p:sp>
      <p:sp>
        <p:nvSpPr>
          <p:cNvPr name="TextBox 12" id="12"/>
          <p:cNvSpPr txBox="true"/>
          <p:nvPr/>
        </p:nvSpPr>
        <p:spPr>
          <a:xfrm rot="-5400000">
            <a:off x="-853228" y="5417223"/>
            <a:ext cx="3750022" cy="306705"/>
          </a:xfrm>
          <a:prstGeom prst="rect">
            <a:avLst/>
          </a:prstGeom>
        </p:spPr>
        <p:txBody>
          <a:bodyPr anchor="t" rtlCol="false" tIns="0" lIns="0" bIns="0" rIns="0">
            <a:spAutoFit/>
          </a:bodyPr>
          <a:lstStyle/>
          <a:p>
            <a:pPr algn="just" marL="0" indent="0" lvl="0">
              <a:lnSpc>
                <a:spcPts val="2520"/>
              </a:lnSpc>
              <a:spcBef>
                <a:spcPct val="0"/>
              </a:spcBef>
            </a:pPr>
            <a:r>
              <a:rPr lang="en-US" sz="1800" strike="noStrike" u="none">
                <a:solidFill>
                  <a:srgbClr val="FF3131"/>
                </a:solidFill>
                <a:latin typeface="Open Sauce"/>
                <a:ea typeface="Open Sauce"/>
                <a:cs typeface="Open Sauce"/>
                <a:sym typeface="Open Sauce"/>
              </a:rPr>
              <a:t>OIL AND GAS</a:t>
            </a:r>
          </a:p>
        </p:txBody>
      </p:sp>
      <p:sp>
        <p:nvSpPr>
          <p:cNvPr name="TextBox 13" id="13"/>
          <p:cNvSpPr txBox="true"/>
          <p:nvPr/>
        </p:nvSpPr>
        <p:spPr>
          <a:xfrm rot="-5400000">
            <a:off x="-853228" y="4007189"/>
            <a:ext cx="3750022" cy="306705"/>
          </a:xfrm>
          <a:prstGeom prst="rect">
            <a:avLst/>
          </a:prstGeom>
        </p:spPr>
        <p:txBody>
          <a:bodyPr anchor="t" rtlCol="false" tIns="0" lIns="0" bIns="0" rIns="0">
            <a:spAutoFit/>
          </a:bodyPr>
          <a:lstStyle/>
          <a:p>
            <a:pPr algn="r" marL="0" indent="0" lvl="0">
              <a:lnSpc>
                <a:spcPts val="2520"/>
              </a:lnSpc>
              <a:spcBef>
                <a:spcPct val="0"/>
              </a:spcBef>
            </a:pPr>
            <a:r>
              <a:rPr lang="en-US" sz="1800" strike="noStrike" u="none">
                <a:solidFill>
                  <a:srgbClr val="FF3131"/>
                </a:solidFill>
                <a:latin typeface="Open Sauce"/>
                <a:ea typeface="Open Sauce"/>
                <a:cs typeface="Open Sauce"/>
                <a:sym typeface="Open Sauce"/>
              </a:rPr>
              <a:t>DAILY DRILLING REPORTS</a:t>
            </a:r>
          </a:p>
        </p:txBody>
      </p:sp>
      <p:sp>
        <p:nvSpPr>
          <p:cNvPr name="TextBox 14" id="14"/>
          <p:cNvSpPr txBox="true"/>
          <p:nvPr/>
        </p:nvSpPr>
        <p:spPr>
          <a:xfrm rot="0">
            <a:off x="768694" y="516053"/>
            <a:ext cx="4953000" cy="309753"/>
          </a:xfrm>
          <a:prstGeom prst="rect">
            <a:avLst/>
          </a:prstGeom>
        </p:spPr>
        <p:txBody>
          <a:bodyPr anchor="t" rtlCol="false" tIns="0" lIns="0" bIns="0" rIns="0">
            <a:spAutoFit/>
          </a:bodyPr>
          <a:lstStyle/>
          <a:p>
            <a:pPr algn="l" marL="0" indent="0" lvl="0">
              <a:lnSpc>
                <a:spcPts val="2331"/>
              </a:lnSpc>
              <a:spcBef>
                <a:spcPct val="0"/>
              </a:spcBef>
            </a:pPr>
            <a:r>
              <a:rPr lang="en-US" sz="2100" strike="noStrike" u="none">
                <a:solidFill>
                  <a:srgbClr val="FFFAE5"/>
                </a:solidFill>
                <a:latin typeface="Open Sauce"/>
                <a:ea typeface="Open Sauce"/>
                <a:cs typeface="Open Sauce"/>
                <a:sym typeface="Open Sauce"/>
              </a:rPr>
              <a:t>CA-3 · FOUNDATION OF AGENTIC AI</a:t>
            </a:r>
          </a:p>
        </p:txBody>
      </p:sp>
      <p:sp>
        <p:nvSpPr>
          <p:cNvPr name="TextBox 15" id="15"/>
          <p:cNvSpPr txBox="true"/>
          <p:nvPr/>
        </p:nvSpPr>
        <p:spPr>
          <a:xfrm rot="0">
            <a:off x="762000" y="8820150"/>
            <a:ext cx="7499736" cy="773430"/>
          </a:xfrm>
          <a:prstGeom prst="rect">
            <a:avLst/>
          </a:prstGeom>
        </p:spPr>
        <p:txBody>
          <a:bodyPr anchor="t" rtlCol="false" tIns="0" lIns="0" bIns="0" rIns="0">
            <a:spAutoFit/>
          </a:bodyPr>
          <a:lstStyle/>
          <a:p>
            <a:pPr algn="l" marL="0" indent="0" lvl="0">
              <a:lnSpc>
                <a:spcPts val="2069"/>
              </a:lnSpc>
              <a:spcBef>
                <a:spcPct val="0"/>
              </a:spcBef>
            </a:pPr>
            <a:r>
              <a:rPr lang="en-US" sz="1799" strike="noStrike" u="none">
                <a:solidFill>
                  <a:srgbClr val="FFFAE5"/>
                </a:solidFill>
                <a:latin typeface="Open Sauce"/>
                <a:ea typeface="Open Sauce"/>
                <a:cs typeface="Open Sauce"/>
                <a:sym typeface="Open Sauce"/>
              </a:rPr>
              <a:t>Reading the rig: finding lost drilling time in daily reports with a LangGraph multi-agent system.</a:t>
            </a:r>
          </a:p>
          <a:p>
            <a:pPr algn="l" marL="0" indent="0" lvl="0">
              <a:lnSpc>
                <a:spcPts val="2069"/>
              </a:lnSpc>
              <a:spcBef>
                <a:spcPct val="0"/>
              </a:spcBef>
            </a:pPr>
            <a:r>
              <a:rPr lang="en-US" sz="1799" strike="noStrike" u="none">
                <a:solidFill>
                  <a:srgbClr val="FFFAE5"/>
                </a:solidFill>
                <a:latin typeface="Open Sauce"/>
                <a:ea typeface="Open Sauce"/>
                <a:cs typeface="Open Sauce"/>
                <a:sym typeface="Open Sauce"/>
              </a:rPr>
              <a:t>Rahul Narkhede (24070126146) and Ranjan Verma (24070126149)</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575227" y="398961"/>
            <a:ext cx="6659306"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EVERY</a:t>
            </a:r>
          </a:p>
        </p:txBody>
      </p:sp>
      <p:sp>
        <p:nvSpPr>
          <p:cNvPr name="TextBox 3" id="3"/>
          <p:cNvSpPr txBox="true"/>
          <p:nvPr/>
        </p:nvSpPr>
        <p:spPr>
          <a:xfrm rot="0">
            <a:off x="575227" y="2763100"/>
            <a:ext cx="6659306" cy="3058992"/>
          </a:xfrm>
          <a:prstGeom prst="rect">
            <a:avLst/>
          </a:prstGeom>
        </p:spPr>
        <p:txBody>
          <a:bodyPr anchor="t" rtlCol="false" tIns="0" lIns="0" bIns="0" rIns="0">
            <a:spAutoFit/>
          </a:bodyPr>
          <a:lstStyle/>
          <a:p>
            <a:pPr algn="just" marL="0" indent="0" lvl="0">
              <a:lnSpc>
                <a:spcPts val="25119"/>
              </a:lnSpc>
              <a:spcBef>
                <a:spcPct val="0"/>
              </a:spcBef>
            </a:pPr>
            <a:r>
              <a:rPr lang="en-US" sz="17942" strike="noStrike" u="none">
                <a:solidFill>
                  <a:srgbClr val="FFFAE5"/>
                </a:solidFill>
                <a:latin typeface="Anton"/>
                <a:ea typeface="Anton"/>
                <a:cs typeface="Anton"/>
                <a:sym typeface="Anton"/>
              </a:rPr>
              <a:t>OF</a:t>
            </a:r>
          </a:p>
        </p:txBody>
      </p:sp>
      <p:sp>
        <p:nvSpPr>
          <p:cNvPr name="TextBox 4" id="4"/>
          <p:cNvSpPr txBox="true"/>
          <p:nvPr/>
        </p:nvSpPr>
        <p:spPr>
          <a:xfrm rot="0">
            <a:off x="8205008" y="398961"/>
            <a:ext cx="9549850" cy="3058992"/>
          </a:xfrm>
          <a:prstGeom prst="rect">
            <a:avLst/>
          </a:prstGeom>
        </p:spPr>
        <p:txBody>
          <a:bodyPr anchor="t" rtlCol="false" tIns="0" lIns="0" bIns="0" rIns="0">
            <a:spAutoFit/>
          </a:bodyPr>
          <a:lstStyle/>
          <a:p>
            <a:pPr algn="r" marL="0" indent="0" lvl="0">
              <a:lnSpc>
                <a:spcPts val="25119"/>
              </a:lnSpc>
              <a:spcBef>
                <a:spcPct val="0"/>
              </a:spcBef>
            </a:pPr>
            <a:r>
              <a:rPr lang="en-US" sz="17942" strike="noStrike" u="none">
                <a:solidFill>
                  <a:srgbClr val="FFFAE5"/>
                </a:solidFill>
                <a:latin typeface="Anton"/>
                <a:ea typeface="Anton"/>
                <a:cs typeface="Anton"/>
                <a:sym typeface="Anton"/>
              </a:rPr>
              <a:t>HOUR</a:t>
            </a:r>
          </a:p>
        </p:txBody>
      </p:sp>
      <p:grpSp>
        <p:nvGrpSpPr>
          <p:cNvPr name="Group 5" id="5"/>
          <p:cNvGrpSpPr/>
          <p:nvPr/>
        </p:nvGrpSpPr>
        <p:grpSpPr>
          <a:xfrm rot="0">
            <a:off x="6196594" y="1003673"/>
            <a:ext cx="5141821" cy="1958864"/>
            <a:chOff x="0" y="0"/>
            <a:chExt cx="1600117" cy="609592"/>
          </a:xfrm>
        </p:grpSpPr>
        <p:sp>
          <p:nvSpPr>
            <p:cNvPr name="Freeform 6" id="6" descr="Offshore drilling rig lit up at night"/>
            <p:cNvSpPr/>
            <p:nvPr/>
          </p:nvSpPr>
          <p:spPr>
            <a:xfrm flipH="false" flipV="false" rot="0">
              <a:off x="0" y="0"/>
              <a:ext cx="1600117" cy="609592"/>
            </a:xfrm>
            <a:custGeom>
              <a:avLst/>
              <a:gdLst/>
              <a:ahLst/>
              <a:cxnLst/>
              <a:rect r="r" b="b" t="t" l="l"/>
              <a:pathLst>
                <a:path h="609592" w="1600117">
                  <a:moveTo>
                    <a:pt x="0" y="0"/>
                  </a:moveTo>
                  <a:lnTo>
                    <a:pt x="1600117" y="0"/>
                  </a:lnTo>
                  <a:lnTo>
                    <a:pt x="1600117" y="609592"/>
                  </a:lnTo>
                  <a:lnTo>
                    <a:pt x="0" y="609592"/>
                  </a:lnTo>
                  <a:close/>
                </a:path>
              </a:pathLst>
            </a:custGeom>
            <a:blipFill>
              <a:blip r:embed="rId3"/>
              <a:stretch>
                <a:fillRect l="0" t="-160835" r="0" b="-160835"/>
              </a:stretch>
            </a:blipFill>
          </p:spPr>
        </p:sp>
      </p:grpSp>
      <p:grpSp>
        <p:nvGrpSpPr>
          <p:cNvPr name="Group 7" id="7"/>
          <p:cNvGrpSpPr/>
          <p:nvPr/>
        </p:nvGrpSpPr>
        <p:grpSpPr>
          <a:xfrm rot="0">
            <a:off x="4115180" y="3457953"/>
            <a:ext cx="3804008" cy="1958864"/>
            <a:chOff x="0" y="0"/>
            <a:chExt cx="1183794" cy="609592"/>
          </a:xfrm>
        </p:grpSpPr>
        <p:sp>
          <p:nvSpPr>
            <p:cNvPr name="Freeform 8" id="8" descr="Crew working on a drill floor"/>
            <p:cNvSpPr/>
            <p:nvPr/>
          </p:nvSpPr>
          <p:spPr>
            <a:xfrm flipH="false" flipV="false" rot="0">
              <a:off x="0" y="0"/>
              <a:ext cx="1183795" cy="609592"/>
            </a:xfrm>
            <a:custGeom>
              <a:avLst/>
              <a:gdLst/>
              <a:ahLst/>
              <a:cxnLst/>
              <a:rect r="r" b="b" t="t" l="l"/>
              <a:pathLst>
                <a:path h="609592" w="1183795">
                  <a:moveTo>
                    <a:pt x="0" y="0"/>
                  </a:moveTo>
                  <a:lnTo>
                    <a:pt x="1183795" y="0"/>
                  </a:lnTo>
                  <a:lnTo>
                    <a:pt x="1183795" y="609592"/>
                  </a:lnTo>
                  <a:lnTo>
                    <a:pt x="0" y="609592"/>
                  </a:lnTo>
                  <a:close/>
                </a:path>
              </a:pathLst>
            </a:custGeom>
            <a:blipFill>
              <a:blip r:embed="rId4"/>
              <a:stretch>
                <a:fillRect l="0" t="-82782" r="0" b="-82782"/>
              </a:stretch>
            </a:blipFill>
          </p:spPr>
        </p:sp>
      </p:grpSp>
      <p:sp>
        <p:nvSpPr>
          <p:cNvPr name="Freeform 9" id="9"/>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0" id="10"/>
          <p:cNvSpPr txBox="true"/>
          <p:nvPr/>
        </p:nvSpPr>
        <p:spPr>
          <a:xfrm rot="0">
            <a:off x="8000970" y="2763100"/>
            <a:ext cx="9753888" cy="3058992"/>
          </a:xfrm>
          <a:prstGeom prst="rect">
            <a:avLst/>
          </a:prstGeom>
        </p:spPr>
        <p:txBody>
          <a:bodyPr anchor="t" rtlCol="false" tIns="0" lIns="0" bIns="0" rIns="0">
            <a:spAutoFit/>
          </a:bodyPr>
          <a:lstStyle/>
          <a:p>
            <a:pPr algn="r" marL="0" indent="0" lvl="0">
              <a:lnSpc>
                <a:spcPts val="25119"/>
              </a:lnSpc>
              <a:spcBef>
                <a:spcPct val="0"/>
              </a:spcBef>
            </a:pPr>
            <a:r>
              <a:rPr lang="en-US" sz="17942" strike="noStrike" u="none">
                <a:solidFill>
                  <a:srgbClr val="FFFAE5"/>
                </a:solidFill>
                <a:latin typeface="Anton"/>
                <a:ea typeface="Anton"/>
                <a:cs typeface="Anton"/>
                <a:sym typeface="Anton"/>
              </a:rPr>
              <a:t>RIG TIME</a:t>
            </a:r>
          </a:p>
        </p:txBody>
      </p:sp>
      <p:sp>
        <p:nvSpPr>
          <p:cNvPr name="Freeform 11" id="11"/>
          <p:cNvSpPr/>
          <p:nvPr/>
        </p:nvSpPr>
        <p:spPr>
          <a:xfrm flipH="false" flipV="false" rot="0">
            <a:off x="13119641" y="5143500"/>
            <a:ext cx="5630127" cy="737035"/>
          </a:xfrm>
          <a:custGeom>
            <a:avLst/>
            <a:gdLst/>
            <a:ahLst/>
            <a:cxnLst/>
            <a:rect r="r" b="b" t="t" l="l"/>
            <a:pathLst>
              <a:path h="737035" w="5630127">
                <a:moveTo>
                  <a:pt x="0" y="0"/>
                </a:moveTo>
                <a:lnTo>
                  <a:pt x="5630127" y="0"/>
                </a:lnTo>
                <a:lnTo>
                  <a:pt x="5630127" y="737035"/>
                </a:lnTo>
                <a:lnTo>
                  <a:pt x="0" y="73703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2" id="12"/>
          <p:cNvSpPr txBox="true"/>
          <p:nvPr/>
        </p:nvSpPr>
        <p:spPr>
          <a:xfrm rot="0">
            <a:off x="597512" y="6565178"/>
            <a:ext cx="3207994" cy="362308"/>
          </a:xfrm>
          <a:prstGeom prst="rect">
            <a:avLst/>
          </a:prstGeom>
        </p:spPr>
        <p:txBody>
          <a:bodyPr anchor="t" rtlCol="false" tIns="0" lIns="0" bIns="0" rIns="0">
            <a:spAutoFit/>
          </a:bodyPr>
          <a:lstStyle/>
          <a:p>
            <a:pPr algn="l" marL="0" indent="0" lvl="0">
              <a:lnSpc>
                <a:spcPts val="2725"/>
              </a:lnSpc>
              <a:spcBef>
                <a:spcPct val="0"/>
              </a:spcBef>
            </a:pPr>
            <a:r>
              <a:rPr lang="en-US" sz="2809" strike="noStrike" u="none">
                <a:solidFill>
                  <a:srgbClr val="FFFFFF"/>
                </a:solidFill>
                <a:latin typeface="Anton"/>
                <a:ea typeface="Anton"/>
                <a:cs typeface="Anton"/>
                <a:sym typeface="Anton"/>
              </a:rPr>
              <a:t>40–50% of capex</a:t>
            </a:r>
          </a:p>
        </p:txBody>
      </p:sp>
      <p:sp>
        <p:nvSpPr>
          <p:cNvPr name="TextBox 13" id="13"/>
          <p:cNvSpPr txBox="true"/>
          <p:nvPr/>
        </p:nvSpPr>
        <p:spPr>
          <a:xfrm rot="0">
            <a:off x="597512" y="7099253"/>
            <a:ext cx="3579496"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Drilling and completing wells takes 40–50% of an offshore operator's capital spend. Operators that track lost time closely have cut NPT from 16% to 9% (Source 9).</a:t>
            </a:r>
          </a:p>
        </p:txBody>
      </p:sp>
      <p:sp>
        <p:nvSpPr>
          <p:cNvPr name="TextBox 14" id="14"/>
          <p:cNvSpPr txBox="true"/>
          <p:nvPr/>
        </p:nvSpPr>
        <p:spPr>
          <a:xfrm rot="0">
            <a:off x="7540003" y="6565178"/>
            <a:ext cx="3207994" cy="367811"/>
          </a:xfrm>
          <a:prstGeom prst="rect">
            <a:avLst/>
          </a:prstGeom>
        </p:spPr>
        <p:txBody>
          <a:bodyPr anchor="t" rtlCol="false" tIns="0" lIns="0" bIns="0" rIns="0">
            <a:spAutoFit/>
          </a:bodyPr>
          <a:lstStyle/>
          <a:p>
            <a:pPr algn="ctr" marL="0" indent="0" lvl="0">
              <a:lnSpc>
                <a:spcPts val="2725"/>
              </a:lnSpc>
              <a:spcBef>
                <a:spcPct val="0"/>
              </a:spcBef>
            </a:pPr>
            <a:r>
              <a:rPr lang="en-US" sz="2809" strike="noStrike" u="none">
                <a:solidFill>
                  <a:srgbClr val="FFFFFF"/>
                </a:solidFill>
                <a:latin typeface="Anton"/>
                <a:ea typeface="Anton"/>
                <a:cs typeface="Anton"/>
                <a:sym typeface="Anton"/>
              </a:rPr>
              <a:t>~$400k a day</a:t>
            </a:r>
          </a:p>
        </p:txBody>
      </p:sp>
      <p:sp>
        <p:nvSpPr>
          <p:cNvPr name="TextBox 15" id="15"/>
          <p:cNvSpPr txBox="true"/>
          <p:nvPr/>
        </p:nvSpPr>
        <p:spPr>
          <a:xfrm rot="0">
            <a:off x="7285932" y="7104756"/>
            <a:ext cx="3719696" cy="1109853"/>
          </a:xfrm>
          <a:prstGeom prst="rect">
            <a:avLst/>
          </a:prstGeom>
        </p:spPr>
        <p:txBody>
          <a:bodyPr anchor="t" rtlCol="false" tIns="0" lIns="0" bIns="0" rIns="0">
            <a:spAutoFit/>
          </a:bodyPr>
          <a:lstStyle/>
          <a:p>
            <a:pPr algn="ctr"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 drillship costs close to $400,000 a day in late 2025. Every hour the well does not move forward burns about $16,000 of rig time (Source 10).</a:t>
            </a:r>
          </a:p>
        </p:txBody>
      </p:sp>
      <p:sp>
        <p:nvSpPr>
          <p:cNvPr name="TextBox 16" id="16"/>
          <p:cNvSpPr txBox="true"/>
          <p:nvPr/>
        </p:nvSpPr>
        <p:spPr>
          <a:xfrm rot="0">
            <a:off x="14546864" y="6565178"/>
            <a:ext cx="3207994" cy="367811"/>
          </a:xfrm>
          <a:prstGeom prst="rect">
            <a:avLst/>
          </a:prstGeom>
        </p:spPr>
        <p:txBody>
          <a:bodyPr anchor="t" rtlCol="false" tIns="0" lIns="0" bIns="0" rIns="0">
            <a:spAutoFit/>
          </a:bodyPr>
          <a:lstStyle/>
          <a:p>
            <a:pPr algn="r" marL="0" indent="0" lvl="0">
              <a:lnSpc>
                <a:spcPts val="2725"/>
              </a:lnSpc>
              <a:spcBef>
                <a:spcPct val="0"/>
              </a:spcBef>
            </a:pPr>
            <a:r>
              <a:rPr lang="en-US" sz="2809" strike="noStrike" u="none">
                <a:solidFill>
                  <a:srgbClr val="FFFFFF"/>
                </a:solidFill>
                <a:latin typeface="Anton"/>
                <a:ea typeface="Anton"/>
                <a:cs typeface="Anton"/>
                <a:sym typeface="Anton"/>
              </a:rPr>
              <a:t>Agents are arriving</a:t>
            </a:r>
          </a:p>
        </p:txBody>
      </p:sp>
      <p:sp>
        <p:nvSpPr>
          <p:cNvPr name="TextBox 17" id="17"/>
          <p:cNvSpPr txBox="true"/>
          <p:nvPr/>
        </p:nvSpPr>
        <p:spPr>
          <a:xfrm rot="0">
            <a:off x="14114551" y="7104756"/>
            <a:ext cx="3640306" cy="1328928"/>
          </a:xfrm>
          <a:prstGeom prst="rect">
            <a:avLst/>
          </a:prstGeom>
        </p:spPr>
        <p:txBody>
          <a:bodyPr anchor="t" rtlCol="false" tIns="0" lIns="0" bIns="0" rIns="0">
            <a:spAutoFit/>
          </a:bodyPr>
          <a:lstStyle/>
          <a:p>
            <a:pPr algn="r"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In 2025 ADNOC gave AIQ a $340M contract to roll out ENERGYai agents across 28+ fields. The industry is now asking how far agents can be trusted (Sources 11, 4).</a:t>
            </a:r>
          </a:p>
        </p:txBody>
      </p:sp>
      <p:sp>
        <p:nvSpPr>
          <p:cNvPr name="TextBox 18" id="18"/>
          <p:cNvSpPr txBox="true"/>
          <p:nvPr/>
        </p:nvSpPr>
        <p:spPr>
          <a:xfrm rot="0">
            <a:off x="13491473" y="9012726"/>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INDUSTRY CONTEXT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75227" y="646419"/>
            <a:ext cx="17050272" cy="5809263"/>
            <a:chOff x="0" y="0"/>
            <a:chExt cx="5305987" cy="1807823"/>
          </a:xfrm>
        </p:grpSpPr>
        <p:sp>
          <p:nvSpPr>
            <p:cNvPr name="Freeform 3" id="3" descr="Hand writing on a printed drilling log sheet"/>
            <p:cNvSpPr/>
            <p:nvPr/>
          </p:nvSpPr>
          <p:spPr>
            <a:xfrm flipH="false" flipV="false" rot="0">
              <a:off x="0" y="0"/>
              <a:ext cx="5305987" cy="1807823"/>
            </a:xfrm>
            <a:custGeom>
              <a:avLst/>
              <a:gdLst/>
              <a:ahLst/>
              <a:cxnLst/>
              <a:rect r="r" b="b" t="t" l="l"/>
              <a:pathLst>
                <a:path h="1807823" w="5305987">
                  <a:moveTo>
                    <a:pt x="0" y="0"/>
                  </a:moveTo>
                  <a:lnTo>
                    <a:pt x="5305987" y="0"/>
                  </a:lnTo>
                  <a:lnTo>
                    <a:pt x="5305987" y="1807823"/>
                  </a:lnTo>
                  <a:lnTo>
                    <a:pt x="0" y="1807823"/>
                  </a:lnTo>
                  <a:close/>
                </a:path>
              </a:pathLst>
            </a:custGeom>
            <a:blipFill>
              <a:blip r:embed="rId3"/>
              <a:stretch>
                <a:fillRect l="0" t="-141518" r="0" b="-141518"/>
              </a:stretch>
            </a:blipFill>
          </p:spPr>
        </p:sp>
      </p:grpSp>
      <p:sp>
        <p:nvSpPr>
          <p:cNvPr name="Freeform 4" id="4"/>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575227" y="6714018"/>
            <a:ext cx="12792159"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THE REPORT</a:t>
            </a:r>
          </a:p>
        </p:txBody>
      </p:sp>
      <p:sp>
        <p:nvSpPr>
          <p:cNvPr name="Freeform 6" id="6"/>
          <p:cNvSpPr/>
          <p:nvPr/>
        </p:nvSpPr>
        <p:spPr>
          <a:xfrm flipH="false" flipV="false" rot="0">
            <a:off x="-567062" y="8207571"/>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1591925" y="7134225"/>
            <a:ext cx="6032517"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Every rig sends a Daily Drilling Report (DDR) each morning: an hour by hour time log, depth drilled, bit and mud data, weather, crew and the cost of the day. The IADC has been reworking the DDR so activities are tracked in more detail (Source 2).</a:t>
            </a:r>
          </a:p>
        </p:txBody>
      </p:sp>
      <p:sp>
        <p:nvSpPr>
          <p:cNvPr name="TextBox 8" id="8"/>
          <p:cNvSpPr txBox="true"/>
          <p:nvPr/>
        </p:nvSpPr>
        <p:spPr>
          <a:xfrm rot="0">
            <a:off x="11591925" y="8467725"/>
            <a:ext cx="6032517"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06:00–08:30  Drilled 12¼ in hole, 2,450 to 2,610 m</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08:30–14:00  Pulled out of hole, MWD tool stopped sending data</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14:00–16:00  Waited on weather, wind above crane limit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Most of it is free text, so lost hours hide in sentences.</a:t>
            </a:r>
          </a:p>
        </p:txBody>
      </p:sp>
      <p:sp>
        <p:nvSpPr>
          <p:cNvPr name="TextBox 9" id="9"/>
          <p:cNvSpPr txBox="true"/>
          <p:nvPr/>
        </p:nvSpPr>
        <p:spPr>
          <a:xfrm rot="0">
            <a:off x="10725150" y="895350"/>
            <a:ext cx="66675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DAILY DRILLING REPORT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114304" y="3143972"/>
            <a:ext cx="8059391" cy="7952784"/>
            <a:chOff x="0" y="0"/>
            <a:chExt cx="2508055" cy="2474880"/>
          </a:xfrm>
        </p:grpSpPr>
        <p:sp>
          <p:nvSpPr>
            <p:cNvPr name="Freeform 3" id="3" descr="Rusty drilling machinery gear"/>
            <p:cNvSpPr/>
            <p:nvPr/>
          </p:nvSpPr>
          <p:spPr>
            <a:xfrm flipH="false" flipV="false" rot="0">
              <a:off x="0" y="0"/>
              <a:ext cx="2508055" cy="2474880"/>
            </a:xfrm>
            <a:custGeom>
              <a:avLst/>
              <a:gdLst/>
              <a:ahLst/>
              <a:cxnLst/>
              <a:rect r="r" b="b" t="t" l="l"/>
              <a:pathLst>
                <a:path h="2474880" w="2508055">
                  <a:moveTo>
                    <a:pt x="0" y="0"/>
                  </a:moveTo>
                  <a:lnTo>
                    <a:pt x="2508055" y="0"/>
                  </a:lnTo>
                  <a:lnTo>
                    <a:pt x="2508055" y="2474880"/>
                  </a:lnTo>
                  <a:lnTo>
                    <a:pt x="0" y="2474880"/>
                  </a:lnTo>
                  <a:close/>
                </a:path>
              </a:pathLst>
            </a:custGeom>
            <a:blipFill>
              <a:blip r:embed="rId3"/>
              <a:stretch>
                <a:fillRect l="-19736" t="0" r="-19736" b="0"/>
              </a:stretch>
            </a:blipFill>
          </p:spPr>
        </p:sp>
      </p:grpSp>
      <p:sp>
        <p:nvSpPr>
          <p:cNvPr name="Freeform 4" id="4"/>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0" y="-709"/>
            <a:ext cx="18288000" cy="2912935"/>
          </a:xfrm>
          <a:prstGeom prst="rect">
            <a:avLst/>
          </a:prstGeom>
        </p:spPr>
        <p:txBody>
          <a:bodyPr anchor="t" rtlCol="false" tIns="0" lIns="0" bIns="0" rIns="0">
            <a:spAutoFit/>
          </a:bodyPr>
          <a:lstStyle/>
          <a:p>
            <a:pPr algn="ctr" marL="0" indent="0" lvl="0">
              <a:lnSpc>
                <a:spcPts val="23719"/>
              </a:lnSpc>
              <a:spcBef>
                <a:spcPct val="0"/>
              </a:spcBef>
            </a:pPr>
            <a:r>
              <a:rPr lang="en-US" sz="16942" strike="noStrike" u="none">
                <a:solidFill>
                  <a:srgbClr val="FFFAE5"/>
                </a:solidFill>
                <a:latin typeface="Anton"/>
                <a:ea typeface="Anton"/>
                <a:cs typeface="Anton"/>
                <a:sym typeface="Anton"/>
              </a:rPr>
              <a:t>WHERE HOURS GO</a:t>
            </a:r>
          </a:p>
        </p:txBody>
      </p:sp>
      <p:sp>
        <p:nvSpPr>
          <p:cNvPr name="TextBox 6" id="6"/>
          <p:cNvSpPr txBox="true"/>
          <p:nvPr/>
        </p:nvSpPr>
        <p:spPr>
          <a:xfrm rot="0">
            <a:off x="12039600" y="9010650"/>
            <a:ext cx="5715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NON-PRODUCTIVE TIME</a:t>
            </a:r>
          </a:p>
        </p:txBody>
      </p:sp>
      <p:sp>
        <p:nvSpPr>
          <p:cNvPr name="TextBox 7" id="7"/>
          <p:cNvSpPr txBox="true"/>
          <p:nvPr/>
        </p:nvSpPr>
        <p:spPr>
          <a:xfrm rot="0">
            <a:off x="14004872" y="3340851"/>
            <a:ext cx="3749985" cy="89077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Other common causes are tool failure, waiting on weather, waiting on equipment and well control (Source 3).</a:t>
            </a:r>
          </a:p>
        </p:txBody>
      </p:sp>
      <p:sp>
        <p:nvSpPr>
          <p:cNvPr name="TextBox 8" id="8"/>
          <p:cNvSpPr txBox="true"/>
          <p:nvPr/>
        </p:nvSpPr>
        <p:spPr>
          <a:xfrm rot="0">
            <a:off x="14004872" y="5758627"/>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Today engineers spot these by eye in free text, so small losses are never added up and the same failure comes back on the next well.</a:t>
            </a:r>
          </a:p>
        </p:txBody>
      </p:sp>
      <p:sp>
        <p:nvSpPr>
          <p:cNvPr name="TextBox 9" id="9"/>
          <p:cNvSpPr txBox="true"/>
          <p:nvPr/>
        </p:nvSpPr>
        <p:spPr>
          <a:xfrm rot="0">
            <a:off x="575227" y="3340851"/>
            <a:ext cx="3710402"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74% from two causes. In a study of wells on the Lobo trend, stuck pipe and lost circulation alone made up about 74% of all non-productive time (Source 1).</a:t>
            </a:r>
          </a:p>
        </p:txBody>
      </p:sp>
      <p:sp>
        <p:nvSpPr>
          <p:cNvPr name="TextBox 10" id="10"/>
          <p:cNvSpPr txBox="true"/>
          <p:nvPr/>
        </p:nvSpPr>
        <p:spPr>
          <a:xfrm rot="0">
            <a:off x="575227" y="5758627"/>
            <a:ext cx="3710402"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NPT means hours the rig is paid for but the well does not move forward.</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694311" y="3566636"/>
            <a:ext cx="14360105"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THE PROBLEM</a:t>
            </a:r>
          </a:p>
        </p:txBody>
      </p:sp>
      <p:grpSp>
        <p:nvGrpSpPr>
          <p:cNvPr name="Group 3" id="3"/>
          <p:cNvGrpSpPr/>
          <p:nvPr/>
        </p:nvGrpSpPr>
        <p:grpSpPr>
          <a:xfrm rot="0">
            <a:off x="734006" y="-4536979"/>
            <a:ext cx="13715905" cy="8275065"/>
            <a:chOff x="0" y="0"/>
            <a:chExt cx="4268343" cy="2575172"/>
          </a:xfrm>
        </p:grpSpPr>
        <p:sp>
          <p:nvSpPr>
            <p:cNvPr name="Freeform 4" id="4" descr="Drilling rig silhouette at dusk"/>
            <p:cNvSpPr/>
            <p:nvPr/>
          </p:nvSpPr>
          <p:spPr>
            <a:xfrm flipH="false" flipV="false" rot="0">
              <a:off x="0" y="0"/>
              <a:ext cx="4268343" cy="2575172"/>
            </a:xfrm>
            <a:custGeom>
              <a:avLst/>
              <a:gdLst/>
              <a:ahLst/>
              <a:cxnLst/>
              <a:rect r="r" b="b" t="t" l="l"/>
              <a:pathLst>
                <a:path h="2575172" w="4268343">
                  <a:moveTo>
                    <a:pt x="0" y="0"/>
                  </a:moveTo>
                  <a:lnTo>
                    <a:pt x="4268343" y="0"/>
                  </a:lnTo>
                  <a:lnTo>
                    <a:pt x="4268343" y="2575172"/>
                  </a:lnTo>
                  <a:lnTo>
                    <a:pt x="0" y="2575172"/>
                  </a:lnTo>
                  <a:close/>
                </a:path>
              </a:pathLst>
            </a:custGeom>
            <a:blipFill>
              <a:blip r:embed="rId3"/>
              <a:stretch>
                <a:fillRect l="-22470" t="0" r="-22470" b="0"/>
              </a:stretch>
            </a:blipFill>
          </p:spPr>
        </p:sp>
      </p:grpSp>
      <p:grpSp>
        <p:nvGrpSpPr>
          <p:cNvPr name="Group 5" id="5"/>
          <p:cNvGrpSpPr/>
          <p:nvPr/>
        </p:nvGrpSpPr>
        <p:grpSpPr>
          <a:xfrm rot="0">
            <a:off x="15559154" y="-210543"/>
            <a:ext cx="2728846" cy="11005220"/>
            <a:chOff x="0" y="0"/>
            <a:chExt cx="718709" cy="2898494"/>
          </a:xfrm>
        </p:grpSpPr>
        <p:sp>
          <p:nvSpPr>
            <p:cNvPr name="Freeform 6" id="6"/>
            <p:cNvSpPr/>
            <p:nvPr/>
          </p:nvSpPr>
          <p:spPr>
            <a:xfrm flipH="false" flipV="false" rot="0">
              <a:off x="0" y="0"/>
              <a:ext cx="718709" cy="2898494"/>
            </a:xfrm>
            <a:custGeom>
              <a:avLst/>
              <a:gdLst/>
              <a:ahLst/>
              <a:cxnLst/>
              <a:rect r="r" b="b" t="t" l="l"/>
              <a:pathLst>
                <a:path h="2898494" w="718709">
                  <a:moveTo>
                    <a:pt x="0" y="0"/>
                  </a:moveTo>
                  <a:lnTo>
                    <a:pt x="718709" y="0"/>
                  </a:lnTo>
                  <a:lnTo>
                    <a:pt x="718709" y="2898494"/>
                  </a:lnTo>
                  <a:lnTo>
                    <a:pt x="0" y="2898494"/>
                  </a:lnTo>
                  <a:close/>
                </a:path>
              </a:pathLst>
            </a:custGeom>
            <a:solidFill>
              <a:srgbClr val="F63B05"/>
            </a:solidFill>
          </p:spPr>
        </p:sp>
        <p:sp>
          <p:nvSpPr>
            <p:cNvPr name="TextBox 7" id="7"/>
            <p:cNvSpPr txBox="true"/>
            <p:nvPr/>
          </p:nvSpPr>
          <p:spPr>
            <a:xfrm>
              <a:off x="0" y="-47625"/>
              <a:ext cx="718709" cy="2946119"/>
            </a:xfrm>
            <a:prstGeom prst="rect">
              <a:avLst/>
            </a:prstGeom>
          </p:spPr>
          <p:txBody>
            <a:bodyPr anchor="ctr" rtlCol="false" tIns="50800" lIns="50800" bIns="50800" rIns="50800"/>
            <a:lstStyle/>
            <a:p>
              <a:pPr algn="ctr">
                <a:lnSpc>
                  <a:spcPts val="3431"/>
                </a:lnSpc>
              </a:pPr>
            </a:p>
          </p:txBody>
        </p:sp>
      </p:grpSp>
      <p:sp>
        <p:nvSpPr>
          <p:cNvPr name="Freeform 8" id="8"/>
          <p:cNvSpPr/>
          <p:nvPr/>
        </p:nvSpPr>
        <p:spPr>
          <a:xfrm flipH="false" flipV="false" rot="5400000">
            <a:off x="15672506" y="-523175"/>
            <a:ext cx="2502141" cy="1046350"/>
          </a:xfrm>
          <a:custGeom>
            <a:avLst/>
            <a:gdLst/>
            <a:ahLst/>
            <a:cxnLst/>
            <a:rect r="r" b="b" t="t" l="l"/>
            <a:pathLst>
              <a:path h="1046350" w="2502141">
                <a:moveTo>
                  <a:pt x="0" y="0"/>
                </a:moveTo>
                <a:lnTo>
                  <a:pt x="2502141" y="0"/>
                </a:lnTo>
                <a:lnTo>
                  <a:pt x="2502141" y="1046350"/>
                </a:lnTo>
                <a:lnTo>
                  <a:pt x="0" y="10463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87919" y="3298099"/>
            <a:ext cx="7546250" cy="3690802"/>
          </a:xfrm>
          <a:custGeom>
            <a:avLst/>
            <a:gdLst/>
            <a:ahLst/>
            <a:cxnLst/>
            <a:rect r="r" b="b" t="t" l="l"/>
            <a:pathLst>
              <a:path h="3690802" w="7546250">
                <a:moveTo>
                  <a:pt x="0" y="0"/>
                </a:moveTo>
                <a:lnTo>
                  <a:pt x="7546250" y="0"/>
                </a:lnTo>
                <a:lnTo>
                  <a:pt x="7546250" y="3690802"/>
                </a:lnTo>
                <a:lnTo>
                  <a:pt x="0" y="36908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536479"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Our answer: a team of AI agents reads each report, measures the lost hours, finds the likely cause from past events and checks its own work.</a:t>
            </a:r>
          </a:p>
        </p:txBody>
      </p:sp>
      <p:sp>
        <p:nvSpPr>
          <p:cNvPr name="TextBox 11" id="11"/>
          <p:cNvSpPr txBox="true"/>
          <p:nvPr/>
        </p:nvSpPr>
        <p:spPr>
          <a:xfrm rot="0">
            <a:off x="8536479"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 short evidence backed summary then goes to the drilling engineer, who approves or rejects it.</a:t>
            </a:r>
          </a:p>
        </p:txBody>
      </p:sp>
      <p:sp>
        <p:nvSpPr>
          <p:cNvPr name="TextBox 12" id="12"/>
          <p:cNvSpPr txBox="true"/>
          <p:nvPr/>
        </p:nvSpPr>
        <p:spPr>
          <a:xfrm rot="0">
            <a:off x="853091"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How can an engineer get a reliable account of lost time from every daily drilling report without reading each one line by line?</a:t>
            </a:r>
          </a:p>
        </p:txBody>
      </p:sp>
      <p:sp>
        <p:nvSpPr>
          <p:cNvPr name="TextBox 13" id="13"/>
          <p:cNvSpPr txBox="true"/>
          <p:nvPr/>
        </p:nvSpPr>
        <p:spPr>
          <a:xfrm rot="0">
            <a:off x="853091"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Reports arrive every day from many rigs, written as free text by the crew.</a:t>
            </a:r>
          </a:p>
        </p:txBody>
      </p:sp>
      <p:sp>
        <p:nvSpPr>
          <p:cNvPr name="TextBox 14" id="14"/>
          <p:cNvSpPr txBox="true"/>
          <p:nvPr/>
        </p:nvSpPr>
        <p:spPr>
          <a:xfrm rot="5400000">
            <a:off x="13227487" y="5364752"/>
            <a:ext cx="7335029" cy="989200"/>
          </a:xfrm>
          <a:prstGeom prst="rect">
            <a:avLst/>
          </a:prstGeom>
        </p:spPr>
        <p:txBody>
          <a:bodyPr anchor="t" rtlCol="false" tIns="0" lIns="0" bIns="0" rIns="0">
            <a:spAutoFit/>
          </a:bodyPr>
          <a:lstStyle/>
          <a:p>
            <a:pPr algn="r" marL="0" indent="0" lvl="0">
              <a:lnSpc>
                <a:spcPts val="7719"/>
              </a:lnSpc>
              <a:spcBef>
                <a:spcPct val="0"/>
              </a:spcBef>
            </a:pPr>
            <a:r>
              <a:rPr lang="en-US" sz="6954" strike="noStrike" u="none">
                <a:solidFill>
                  <a:srgbClr val="FFFAE5"/>
                </a:solidFill>
                <a:latin typeface="Anton"/>
                <a:ea typeface="Anton"/>
                <a:cs typeface="Anton"/>
                <a:sym typeface="Anton"/>
              </a:rPr>
              <a:t>PROBLEM STATEMENT</a:t>
            </a:r>
          </a:p>
        </p:txBody>
      </p:sp>
      <p:sp>
        <p:nvSpPr>
          <p:cNvPr name="Freeform 15" id="15"/>
          <p:cNvSpPr/>
          <p:nvPr/>
        </p:nvSpPr>
        <p:spPr>
          <a:xfrm flipH="false" flipV="false" rot="0">
            <a:off x="15559154"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8">
              <a:alphaModFix amt="24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5400000">
            <a:off x="-3288267" y="3536857"/>
            <a:ext cx="9416059" cy="3213286"/>
          </a:xfrm>
          <a:prstGeom prst="rect">
            <a:avLst/>
          </a:prstGeom>
        </p:spPr>
        <p:txBody>
          <a:bodyPr anchor="t" rtlCol="false" tIns="0" lIns="0" bIns="0" rIns="0">
            <a:spAutoFit/>
          </a:bodyPr>
          <a:lstStyle/>
          <a:p>
            <a:pPr algn="ctr" marL="0" indent="0" lvl="0">
              <a:lnSpc>
                <a:spcPts val="26249"/>
              </a:lnSpc>
              <a:spcBef>
                <a:spcPct val="0"/>
              </a:spcBef>
            </a:pPr>
            <a:r>
              <a:rPr lang="en-US" sz="18749" strike="noStrike" u="none">
                <a:solidFill>
                  <a:srgbClr val="FFFAE5"/>
                </a:solidFill>
                <a:latin typeface="Anton"/>
                <a:ea typeface="Anton"/>
                <a:cs typeface="Anton"/>
                <a:sym typeface="Anton"/>
              </a:rPr>
              <a:t>APPROACH</a:t>
            </a:r>
          </a:p>
        </p:txBody>
      </p:sp>
      <p:sp>
        <p:nvSpPr>
          <p:cNvPr name="Freeform 3" id="3"/>
          <p:cNvSpPr/>
          <p:nvPr/>
        </p:nvSpPr>
        <p:spPr>
          <a:xfrm flipH="false" flipV="false" rot="0">
            <a:off x="-6958250"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24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3909572" y="-207640"/>
            <a:ext cx="5831562" cy="10861064"/>
            <a:chOff x="0" y="0"/>
            <a:chExt cx="1535885" cy="2860527"/>
          </a:xfrm>
        </p:grpSpPr>
        <p:sp>
          <p:nvSpPr>
            <p:cNvPr name="Freeform 5" id="5"/>
            <p:cNvSpPr/>
            <p:nvPr/>
          </p:nvSpPr>
          <p:spPr>
            <a:xfrm flipH="false" flipV="false" rot="0">
              <a:off x="0" y="0"/>
              <a:ext cx="1535885" cy="2860527"/>
            </a:xfrm>
            <a:custGeom>
              <a:avLst/>
              <a:gdLst/>
              <a:ahLst/>
              <a:cxnLst/>
              <a:rect r="r" b="b" t="t" l="l"/>
              <a:pathLst>
                <a:path h="2860527" w="1535885">
                  <a:moveTo>
                    <a:pt x="0" y="0"/>
                  </a:moveTo>
                  <a:lnTo>
                    <a:pt x="1535885" y="0"/>
                  </a:lnTo>
                  <a:lnTo>
                    <a:pt x="1535885" y="2860527"/>
                  </a:lnTo>
                  <a:lnTo>
                    <a:pt x="0" y="2860527"/>
                  </a:lnTo>
                  <a:close/>
                </a:path>
              </a:pathLst>
            </a:custGeom>
            <a:solidFill>
              <a:srgbClr val="000000"/>
            </a:solidFill>
          </p:spPr>
        </p:sp>
        <p:sp>
          <p:nvSpPr>
            <p:cNvPr name="TextBox 6" id="6"/>
            <p:cNvSpPr txBox="true"/>
            <p:nvPr/>
          </p:nvSpPr>
          <p:spPr>
            <a:xfrm>
              <a:off x="0" y="-47625"/>
              <a:ext cx="1535885" cy="2908152"/>
            </a:xfrm>
            <a:prstGeom prst="rect">
              <a:avLst/>
            </a:prstGeom>
          </p:spPr>
          <p:txBody>
            <a:bodyPr anchor="ctr" rtlCol="false" tIns="50800" lIns="50800" bIns="50800" rIns="50800"/>
            <a:lstStyle/>
            <a:p>
              <a:pPr algn="ctr">
                <a:lnSpc>
                  <a:spcPts val="3431"/>
                </a:lnSpc>
              </a:pPr>
            </a:p>
          </p:txBody>
        </p:sp>
      </p:grpSp>
      <p:grpSp>
        <p:nvGrpSpPr>
          <p:cNvPr name="Group 7" id="7"/>
          <p:cNvGrpSpPr/>
          <p:nvPr/>
        </p:nvGrpSpPr>
        <p:grpSpPr>
          <a:xfrm rot="0">
            <a:off x="10303110" y="583079"/>
            <a:ext cx="8059391" cy="9268450"/>
            <a:chOff x="0" y="0"/>
            <a:chExt cx="2508055" cy="2884310"/>
          </a:xfrm>
        </p:grpSpPr>
        <p:sp>
          <p:nvSpPr>
            <p:cNvPr name="Freeform 8" id="8" descr="Laptop showing data on a rig site"/>
            <p:cNvSpPr/>
            <p:nvPr/>
          </p:nvSpPr>
          <p:spPr>
            <a:xfrm flipH="false" flipV="false" rot="0">
              <a:off x="0" y="0"/>
              <a:ext cx="2508055" cy="2884310"/>
            </a:xfrm>
            <a:custGeom>
              <a:avLst/>
              <a:gdLst/>
              <a:ahLst/>
              <a:cxnLst/>
              <a:rect r="r" b="b" t="t" l="l"/>
              <a:pathLst>
                <a:path h="2884310" w="2508055">
                  <a:moveTo>
                    <a:pt x="0" y="0"/>
                  </a:moveTo>
                  <a:lnTo>
                    <a:pt x="2508055" y="0"/>
                  </a:lnTo>
                  <a:lnTo>
                    <a:pt x="2508055" y="2884310"/>
                  </a:lnTo>
                  <a:lnTo>
                    <a:pt x="0" y="2884310"/>
                  </a:lnTo>
                  <a:close/>
                </a:path>
              </a:pathLst>
            </a:custGeom>
            <a:blipFill>
              <a:blip r:embed="rId5"/>
              <a:stretch>
                <a:fillRect l="-37620" t="0" r="-37620" b="0"/>
              </a:stretch>
            </a:blipFill>
          </p:spPr>
        </p:sp>
      </p:grpSp>
      <p:sp>
        <p:nvSpPr>
          <p:cNvPr name="TextBox 9" id="9"/>
          <p:cNvSpPr txBox="true"/>
          <p:nvPr/>
        </p:nvSpPr>
        <p:spPr>
          <a:xfrm rot="0">
            <a:off x="4950361" y="621179"/>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MANUAL TODAY</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An engineer reads each report by eye. Lost hours are not totalled, labels differ from person to person and lessons from past wells are not reused.</a:t>
            </a:r>
          </a:p>
        </p:txBody>
      </p:sp>
      <p:sp>
        <p:nvSpPr>
          <p:cNvPr name="TextBox 10" id="10"/>
          <p:cNvSpPr txBox="true"/>
          <p:nvPr/>
        </p:nvSpPr>
        <p:spPr>
          <a:xfrm rot="0">
            <a:off x="4950361" y="5695950"/>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OUR AGENTIC SYSTEM</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Plans the work, uses Python for exact sums, compares with the well plan, checks itself with a Critic and waits for the engineer to approve.</a:t>
            </a:r>
          </a:p>
        </p:txBody>
      </p:sp>
      <p:sp>
        <p:nvSpPr>
          <p:cNvPr name="TextBox 11" id="11"/>
          <p:cNvSpPr txBox="true"/>
          <p:nvPr/>
        </p:nvSpPr>
        <p:spPr>
          <a:xfrm rot="0">
            <a:off x="4949344" y="3157347"/>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PLAIN CHATBOT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One prompt, one answer. The model guesses the sums, cannot check itself and gives no proof for what it says. Easy to demo, hard to trust.</a:t>
            </a:r>
          </a:p>
        </p:txBody>
      </p:sp>
      <p:sp>
        <p:nvSpPr>
          <p:cNvPr name="TextBox 12" id="12"/>
          <p:cNvSpPr txBox="true"/>
          <p:nvPr/>
        </p:nvSpPr>
        <p:spPr>
          <a:xfrm rot="0">
            <a:off x="10515600" y="9010650"/>
            <a:ext cx="7239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THREE WAYS TO READ A REPORT</a:t>
            </a:r>
          </a:p>
        </p:txBody>
      </p:sp>
      <p:sp>
        <p:nvSpPr>
          <p:cNvPr name="Freeform 13" id="13"/>
          <p:cNvSpPr/>
          <p:nvPr/>
        </p:nvSpPr>
        <p:spPr>
          <a:xfrm flipH="false" flipV="false" rot="0">
            <a:off x="4950361" y="8954493"/>
            <a:ext cx="1452988" cy="607613"/>
          </a:xfrm>
          <a:custGeom>
            <a:avLst/>
            <a:gdLst/>
            <a:ahLst/>
            <a:cxnLst/>
            <a:rect r="r" b="b" t="t" l="l"/>
            <a:pathLst>
              <a:path h="607613" w="1452988">
                <a:moveTo>
                  <a:pt x="0" y="0"/>
                </a:moveTo>
                <a:lnTo>
                  <a:pt x="1452988" y="0"/>
                </a:lnTo>
                <a:lnTo>
                  <a:pt x="1452988" y="607614"/>
                </a:lnTo>
                <a:lnTo>
                  <a:pt x="0" y="607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false" flipV="false" rot="0">
            <a:off x="5381625" y="7620000"/>
            <a:ext cx="3756148" cy="491714"/>
          </a:xfrm>
          <a:custGeom>
            <a:avLst/>
            <a:gdLst/>
            <a:ahLst/>
            <a:cxnLst/>
            <a:rect r="r" b="b" t="t" l="l"/>
            <a:pathLst>
              <a:path h="491714" w="3756148">
                <a:moveTo>
                  <a:pt x="0" y="0"/>
                </a:moveTo>
                <a:lnTo>
                  <a:pt x="3756148" y="0"/>
                </a:lnTo>
                <a:lnTo>
                  <a:pt x="3756148" y="491714"/>
                </a:lnTo>
                <a:lnTo>
                  <a:pt x="0" y="4917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grpSp>
        <p:nvGrpSpPr>
          <p:cNvPr name="Group 2" id="2"/>
          <p:cNvGrpSpPr/>
          <p:nvPr/>
        </p:nvGrpSpPr>
        <p:grpSpPr>
          <a:xfrm rot="0">
            <a:off x="11119049" y="0"/>
            <a:ext cx="7168951" cy="10445947"/>
            <a:chOff x="0" y="0"/>
            <a:chExt cx="1888119" cy="2751196"/>
          </a:xfrm>
        </p:grpSpPr>
        <p:sp>
          <p:nvSpPr>
            <p:cNvPr name="Freeform 3" id="3"/>
            <p:cNvSpPr/>
            <p:nvPr/>
          </p:nvSpPr>
          <p:spPr>
            <a:xfrm flipH="false" flipV="false" rot="0">
              <a:off x="0" y="0"/>
              <a:ext cx="1888119" cy="2751196"/>
            </a:xfrm>
            <a:custGeom>
              <a:avLst/>
              <a:gdLst/>
              <a:ahLst/>
              <a:cxnLst/>
              <a:rect r="r" b="b" t="t" l="l"/>
              <a:pathLst>
                <a:path h="2751196" w="1888119">
                  <a:moveTo>
                    <a:pt x="0" y="0"/>
                  </a:moveTo>
                  <a:lnTo>
                    <a:pt x="1888119" y="0"/>
                  </a:lnTo>
                  <a:lnTo>
                    <a:pt x="1888119" y="2751196"/>
                  </a:lnTo>
                  <a:lnTo>
                    <a:pt x="0" y="2751196"/>
                  </a:lnTo>
                  <a:close/>
                </a:path>
              </a:pathLst>
            </a:custGeom>
            <a:solidFill>
              <a:srgbClr val="000000"/>
            </a:solidFill>
          </p:spPr>
        </p:sp>
        <p:sp>
          <p:nvSpPr>
            <p:cNvPr name="TextBox 4" id="4"/>
            <p:cNvSpPr txBox="true"/>
            <p:nvPr/>
          </p:nvSpPr>
          <p:spPr>
            <a:xfrm>
              <a:off x="0" y="-47625"/>
              <a:ext cx="1888119" cy="2798821"/>
            </a:xfrm>
            <a:prstGeom prst="rect">
              <a:avLst/>
            </a:prstGeom>
          </p:spPr>
          <p:txBody>
            <a:bodyPr anchor="ctr" rtlCol="false" tIns="50800" lIns="50800" bIns="50800" rIns="50800"/>
            <a:lstStyle/>
            <a:p>
              <a:pPr algn="ctr">
                <a:lnSpc>
                  <a:spcPts val="3431"/>
                </a:lnSpc>
              </a:pPr>
            </a:p>
          </p:txBody>
        </p:sp>
      </p:grpSp>
      <p:grpSp>
        <p:nvGrpSpPr>
          <p:cNvPr name="Group 5" id="5"/>
          <p:cNvGrpSpPr/>
          <p:nvPr/>
        </p:nvGrpSpPr>
        <p:grpSpPr>
          <a:xfrm rot="0">
            <a:off x="-517241" y="0"/>
            <a:ext cx="11197062" cy="10445947"/>
            <a:chOff x="0" y="0"/>
            <a:chExt cx="3484488" cy="3250743"/>
          </a:xfrm>
        </p:grpSpPr>
        <p:sp>
          <p:nvSpPr>
            <p:cNvPr name="Freeform 6" id="6" descr="Drilling control room with many screens"/>
            <p:cNvSpPr/>
            <p:nvPr/>
          </p:nvSpPr>
          <p:spPr>
            <a:xfrm flipH="false" flipV="false" rot="0">
              <a:off x="0" y="0"/>
              <a:ext cx="3484488" cy="3250743"/>
            </a:xfrm>
            <a:custGeom>
              <a:avLst/>
              <a:gdLst/>
              <a:ahLst/>
              <a:cxnLst/>
              <a:rect r="r" b="b" t="t" l="l"/>
              <a:pathLst>
                <a:path h="3250743" w="3484488">
                  <a:moveTo>
                    <a:pt x="0" y="0"/>
                  </a:moveTo>
                  <a:lnTo>
                    <a:pt x="3484488" y="0"/>
                  </a:lnTo>
                  <a:lnTo>
                    <a:pt x="3484488" y="3250743"/>
                  </a:lnTo>
                  <a:lnTo>
                    <a:pt x="0" y="3250743"/>
                  </a:lnTo>
                  <a:close/>
                </a:path>
              </a:pathLst>
            </a:custGeom>
            <a:blipFill>
              <a:blip r:embed="rId3"/>
              <a:stretch>
                <a:fillRect l="-62062" t="0" r="-62062" b="0"/>
              </a:stretch>
            </a:blipFill>
          </p:spPr>
        </p:sp>
      </p:grpSp>
      <p:sp>
        <p:nvSpPr>
          <p:cNvPr name="TextBox 7" id="7"/>
          <p:cNvSpPr txBox="true"/>
          <p:nvPr/>
        </p:nvSpPr>
        <p:spPr>
          <a:xfrm rot="0">
            <a:off x="8195181" y="5532917"/>
            <a:ext cx="10092819" cy="4520820"/>
          </a:xfrm>
          <a:prstGeom prst="rect">
            <a:avLst/>
          </a:prstGeom>
        </p:spPr>
        <p:txBody>
          <a:bodyPr anchor="t" rtlCol="false" tIns="0" lIns="0" bIns="0" rIns="0">
            <a:spAutoFit/>
          </a:bodyPr>
          <a:lstStyle/>
          <a:p>
            <a:pPr algn="just" marL="0" indent="0" lvl="0">
              <a:lnSpc>
                <a:spcPts val="36945"/>
              </a:lnSpc>
              <a:spcBef>
                <a:spcPct val="0"/>
              </a:spcBef>
            </a:pPr>
            <a:r>
              <a:rPr lang="en-US" sz="26389" strike="noStrike" u="none">
                <a:solidFill>
                  <a:srgbClr val="FFFAE5"/>
                </a:solidFill>
                <a:latin typeface="Anton"/>
                <a:ea typeface="Anton"/>
                <a:cs typeface="Anton"/>
                <a:sym typeface="Anton"/>
              </a:rPr>
              <a:t>AGENTS</a:t>
            </a:r>
          </a:p>
        </p:txBody>
      </p:sp>
      <p:sp>
        <p:nvSpPr>
          <p:cNvPr name="TextBox 8" id="8"/>
          <p:cNvSpPr txBox="true"/>
          <p:nvPr/>
        </p:nvSpPr>
        <p:spPr>
          <a:xfrm rot="0">
            <a:off x="11868150" y="3848100"/>
            <a:ext cx="5387163"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EXECUTOR calls Python tools to label each log line and total NPT hours, ROP and cost.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CRITIC checks the log adds to 24 h and every NPT hour has a category and a source line.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ENGINEER is the human who approves or rejects with a comment.</a:t>
            </a:r>
          </a:p>
        </p:txBody>
      </p:sp>
      <p:sp>
        <p:nvSpPr>
          <p:cNvPr name="TextBox 9" id="9"/>
          <p:cNvSpPr txBox="true"/>
          <p:nvPr/>
        </p:nvSpPr>
        <p:spPr>
          <a:xfrm rot="0">
            <a:off x="11868150" y="1847850"/>
            <a:ext cx="5387163"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ORCHESTRATOR reads the shared state and decides who works next.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PLANNER turns one report into tasks: parse, classify, total, compare and summarise.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RESEARCH pulls the well plan, NPT codes, daily budget and similar past incidents.</a:t>
            </a:r>
          </a:p>
        </p:txBody>
      </p:sp>
      <p:sp>
        <p:nvSpPr>
          <p:cNvPr name="Freeform 10" id="10"/>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SIX ROLES, ONE STATE</a:t>
            </a:r>
          </a:p>
        </p:txBody>
      </p:sp>
      <p:sp>
        <p:nvSpPr>
          <p:cNvPr name="Freeform 12" id="12"/>
          <p:cNvSpPr/>
          <p:nvPr/>
        </p:nvSpPr>
        <p:spPr>
          <a:xfrm flipH="false" flipV="false" rot="0">
            <a:off x="12172062" y="8115300"/>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46489" y="294906"/>
            <a:ext cx="18376320" cy="9694868"/>
          </a:xfrm>
          <a:custGeom>
            <a:avLst/>
            <a:gdLst/>
            <a:ahLst/>
            <a:cxnLst/>
            <a:rect r="r" b="b" t="t" l="l"/>
            <a:pathLst>
              <a:path h="9694868" w="18376320">
                <a:moveTo>
                  <a:pt x="0" y="0"/>
                </a:moveTo>
                <a:lnTo>
                  <a:pt x="18376320" y="0"/>
                </a:lnTo>
                <a:lnTo>
                  <a:pt x="18376320" y="9694868"/>
                </a:lnTo>
                <a:lnTo>
                  <a:pt x="0" y="96948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3" id="3"/>
          <p:cNvSpPr txBox="true"/>
          <p:nvPr/>
        </p:nvSpPr>
        <p:spPr>
          <a:xfrm rot="0">
            <a:off x="153407" y="506289"/>
            <a:ext cx="6294743" cy="244983"/>
          </a:xfrm>
          <a:prstGeom prst="rect">
            <a:avLst/>
          </a:prstGeom>
        </p:spPr>
        <p:txBody>
          <a:bodyPr anchor="t" rtlCol="false" tIns="0" lIns="0" bIns="0" rIns="0">
            <a:spAutoFit/>
          </a:bodyPr>
          <a:lstStyle/>
          <a:p>
            <a:pPr algn="l">
              <a:lnSpc>
                <a:spcPts val="1844"/>
              </a:lnSpc>
            </a:pPr>
            <a:r>
              <a:rPr lang="en-US" b="true" sz="1317">
                <a:solidFill>
                  <a:srgbClr val="1BA1E2"/>
                </a:solidFill>
                <a:latin typeface="Liberation Sans Bold"/>
                <a:ea typeface="Liberation Sans Bold"/>
                <a:cs typeface="Liberation Sans Bold"/>
                <a:sym typeface="Liberation Sans Bold"/>
              </a:rPr>
              <a:t>Agentic AI System for Daily Drilling Report (DDR) Analysis and NPT Detection</a:t>
            </a:r>
          </a:p>
        </p:txBody>
      </p:sp>
      <p:sp>
        <p:nvSpPr>
          <p:cNvPr name="TextBox 4" id="4"/>
          <p:cNvSpPr txBox="true"/>
          <p:nvPr/>
        </p:nvSpPr>
        <p:spPr>
          <a:xfrm rot="0">
            <a:off x="641905" y="774228"/>
            <a:ext cx="27662" cy="143700"/>
          </a:xfrm>
          <a:prstGeom prst="rect">
            <a:avLst/>
          </a:prstGeom>
        </p:spPr>
        <p:txBody>
          <a:bodyPr anchor="t" rtlCol="false" tIns="0" lIns="0" bIns="0" rIns="0">
            <a:spAutoFit/>
          </a:bodyPr>
          <a:lstStyle/>
          <a:p>
            <a:pPr algn="l">
              <a:lnSpc>
                <a:spcPts val="1076"/>
              </a:lnSpc>
            </a:pPr>
            <a:r>
              <a:rPr lang="en-US" sz="768">
                <a:solidFill>
                  <a:srgbClr val="444444"/>
                </a:solidFill>
                <a:latin typeface="Liberation Sans"/>
                <a:ea typeface="Liberation Sans"/>
                <a:cs typeface="Liberation Sans"/>
                <a:sym typeface="Liberation Sans"/>
              </a:rPr>
              <a:t> </a:t>
            </a:r>
          </a:p>
        </p:txBody>
      </p:sp>
      <p:sp>
        <p:nvSpPr>
          <p:cNvPr name="TextBox 5" id="5"/>
          <p:cNvSpPr txBox="true"/>
          <p:nvPr/>
        </p:nvSpPr>
        <p:spPr>
          <a:xfrm rot="0">
            <a:off x="153407" y="774228"/>
            <a:ext cx="6230550" cy="143700"/>
          </a:xfrm>
          <a:prstGeom prst="rect">
            <a:avLst/>
          </a:prstGeom>
        </p:spPr>
        <p:txBody>
          <a:bodyPr anchor="t" rtlCol="false" tIns="0" lIns="0" bIns="0" rIns="0">
            <a:spAutoFit/>
          </a:bodyPr>
          <a:lstStyle/>
          <a:p>
            <a:pPr algn="l">
              <a:lnSpc>
                <a:spcPts val="1076"/>
              </a:lnSpc>
            </a:pPr>
            <a:r>
              <a:rPr lang="en-US" sz="768">
                <a:solidFill>
                  <a:srgbClr val="444444"/>
                </a:solidFill>
                <a:latin typeface="Liberation Sans"/>
                <a:ea typeface="Liberation Sans"/>
                <a:cs typeface="Liberation Sans"/>
                <a:sym typeface="Liberation Sans"/>
              </a:rPr>
              <a:t>LangGraph</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architecture: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Orchestrator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hub</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and</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spoke,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Critic</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retry</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loop,</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ToolNode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for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exact</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calculations,</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engineer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approval</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(human</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in</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the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loop)</a:t>
            </a:r>
          </a:p>
        </p:txBody>
      </p:sp>
      <p:sp>
        <p:nvSpPr>
          <p:cNvPr name="TextBox 6" id="6"/>
          <p:cNvSpPr txBox="true"/>
          <p:nvPr/>
        </p:nvSpPr>
        <p:spPr>
          <a:xfrm rot="0">
            <a:off x="14880498" y="4511959"/>
            <a:ext cx="531228" cy="143700"/>
          </a:xfrm>
          <a:prstGeom prst="rect">
            <a:avLst/>
          </a:prstGeom>
        </p:spPr>
        <p:txBody>
          <a:bodyPr anchor="t" rtlCol="false" tIns="0" lIns="0" bIns="0" rIns="0">
            <a:spAutoFit/>
          </a:bodyPr>
          <a:lstStyle/>
          <a:p>
            <a:pPr algn="l">
              <a:lnSpc>
                <a:spcPts val="1076"/>
              </a:lnSpc>
            </a:pPr>
            <a:r>
              <a:rPr lang="en-US" b="true" sz="768">
                <a:solidFill>
                  <a:srgbClr val="000000"/>
                </a:solidFill>
                <a:latin typeface="Liberation Sans Bold"/>
                <a:ea typeface="Liberation Sans Bold"/>
                <a:cs typeface="Liberation Sans Bold"/>
                <a:sym typeface="Liberation Sans Bold"/>
              </a:rPr>
              <a:t>Edge types</a:t>
            </a:r>
          </a:p>
        </p:txBody>
      </p:sp>
      <p:sp>
        <p:nvSpPr>
          <p:cNvPr name="TextBox 7" id="7"/>
          <p:cNvSpPr txBox="true"/>
          <p:nvPr/>
        </p:nvSpPr>
        <p:spPr>
          <a:xfrm rot="0">
            <a:off x="14880498" y="1199758"/>
            <a:ext cx="1724381" cy="143700"/>
          </a:xfrm>
          <a:prstGeom prst="rect">
            <a:avLst/>
          </a:prstGeom>
        </p:spPr>
        <p:txBody>
          <a:bodyPr anchor="t" rtlCol="false" tIns="0" lIns="0" bIns="0" rIns="0">
            <a:spAutoFit/>
          </a:bodyPr>
          <a:lstStyle/>
          <a:p>
            <a:pPr algn="l">
              <a:lnSpc>
                <a:spcPts val="1076"/>
              </a:lnSpc>
            </a:pPr>
            <a:r>
              <a:rPr lang="en-US" b="true" sz="768">
                <a:solidFill>
                  <a:srgbClr val="000000"/>
                </a:solidFill>
                <a:latin typeface="Liberation Sans Bold"/>
                <a:ea typeface="Liberation Sans Bold"/>
                <a:cs typeface="Liberation Sans Bold"/>
                <a:sym typeface="Liberation Sans Bold"/>
              </a:rPr>
              <a:t>Shared State · DDRState (TypedDict)</a:t>
            </a:r>
          </a:p>
        </p:txBody>
      </p:sp>
      <p:sp>
        <p:nvSpPr>
          <p:cNvPr name="TextBox 8" id="8"/>
          <p:cNvSpPr txBox="true"/>
          <p:nvPr/>
        </p:nvSpPr>
        <p:spPr>
          <a:xfrm rot="0">
            <a:off x="15085115" y="1308991"/>
            <a:ext cx="23715" cy="127258"/>
          </a:xfrm>
          <a:prstGeom prst="rect">
            <a:avLst/>
          </a:prstGeom>
        </p:spPr>
        <p:txBody>
          <a:bodyPr anchor="t" rtlCol="false" tIns="0" lIns="0" bIns="0" rIns="0">
            <a:spAutoFit/>
          </a:bodyPr>
          <a:lstStyle/>
          <a:p>
            <a:pPr algn="l">
              <a:lnSpc>
                <a:spcPts val="922"/>
              </a:lnSpc>
            </a:pPr>
            <a:r>
              <a:rPr lang="en-US" sz="658" i="true">
                <a:solidFill>
                  <a:srgbClr val="000000"/>
                </a:solidFill>
                <a:latin typeface="Liberation Sans Italics"/>
                <a:ea typeface="Liberation Sans Italics"/>
                <a:cs typeface="Liberation Sans Italics"/>
                <a:sym typeface="Liberation Sans Italics"/>
              </a:rPr>
              <a:t> </a:t>
            </a:r>
          </a:p>
        </p:txBody>
      </p:sp>
      <p:sp>
        <p:nvSpPr>
          <p:cNvPr name="TextBox 9" id="9"/>
          <p:cNvSpPr txBox="true"/>
          <p:nvPr/>
        </p:nvSpPr>
        <p:spPr>
          <a:xfrm rot="0">
            <a:off x="251030" y="1201348"/>
            <a:ext cx="1284158" cy="151921"/>
          </a:xfrm>
          <a:prstGeom prst="rect">
            <a:avLst/>
          </a:prstGeom>
        </p:spPr>
        <p:txBody>
          <a:bodyPr anchor="t" rtlCol="false" tIns="0" lIns="0" bIns="0" rIns="0">
            <a:spAutoFit/>
          </a:bodyPr>
          <a:lstStyle/>
          <a:p>
            <a:pPr algn="l">
              <a:lnSpc>
                <a:spcPts val="1153"/>
              </a:lnSpc>
            </a:pPr>
            <a:r>
              <a:rPr lang="en-US" b="true" sz="823">
                <a:solidFill>
                  <a:srgbClr val="555555"/>
                </a:solidFill>
                <a:latin typeface="Liberation Sans Bold"/>
                <a:ea typeface="Liberation Sans Bold"/>
                <a:cs typeface="Liberation Sans Bold"/>
                <a:sym typeface="Liberation Sans Bold"/>
              </a:rPr>
              <a:t>INPUT AND EVALUATION</a:t>
            </a:r>
          </a:p>
        </p:txBody>
      </p:sp>
      <p:sp>
        <p:nvSpPr>
          <p:cNvPr name="TextBox 10" id="10"/>
          <p:cNvSpPr txBox="true"/>
          <p:nvPr/>
        </p:nvSpPr>
        <p:spPr>
          <a:xfrm rot="0">
            <a:off x="2900791" y="8034942"/>
            <a:ext cx="2457723" cy="151921"/>
          </a:xfrm>
          <a:prstGeom prst="rect">
            <a:avLst/>
          </a:prstGeom>
        </p:spPr>
        <p:txBody>
          <a:bodyPr anchor="t" rtlCol="false" tIns="0" lIns="0" bIns="0" rIns="0">
            <a:spAutoFit/>
          </a:bodyPr>
          <a:lstStyle/>
          <a:p>
            <a:pPr algn="l">
              <a:lnSpc>
                <a:spcPts val="1153"/>
              </a:lnSpc>
            </a:pPr>
            <a:r>
              <a:rPr lang="en-US" b="true" sz="823">
                <a:solidFill>
                  <a:srgbClr val="6F4E7C"/>
                </a:solidFill>
                <a:latin typeface="Liberation Sans Bold"/>
                <a:ea typeface="Liberation Sans Bold"/>
                <a:cs typeface="Liberation Sans Bold"/>
                <a:sym typeface="Liberation Sans Bold"/>
              </a:rPr>
              <a:t>TOOLS, DATA AND MEMORY (outside the graph)</a:t>
            </a:r>
          </a:p>
        </p:txBody>
      </p:sp>
      <p:sp>
        <p:nvSpPr>
          <p:cNvPr name="TextBox 11" id="11"/>
          <p:cNvSpPr txBox="true"/>
          <p:nvPr/>
        </p:nvSpPr>
        <p:spPr>
          <a:xfrm rot="0">
            <a:off x="5894846" y="1201348"/>
            <a:ext cx="2910678" cy="151921"/>
          </a:xfrm>
          <a:prstGeom prst="rect">
            <a:avLst/>
          </a:prstGeom>
        </p:spPr>
        <p:txBody>
          <a:bodyPr anchor="t" rtlCol="false" tIns="0" lIns="0" bIns="0" rIns="0">
            <a:spAutoFit/>
          </a:bodyPr>
          <a:lstStyle/>
          <a:p>
            <a:pPr algn="l">
              <a:lnSpc>
                <a:spcPts val="1153"/>
              </a:lnSpc>
            </a:pPr>
            <a:r>
              <a:rPr lang="en-US" b="true" sz="823">
                <a:solidFill>
                  <a:srgbClr val="3D6B2A"/>
                </a:solidFill>
                <a:latin typeface="Liberation Sans Bold"/>
                <a:ea typeface="Liberation Sans Bold"/>
                <a:cs typeface="Liberation Sans Bold"/>
                <a:sym typeface="Liberation Sans Bold"/>
              </a:rPr>
              <a:t>LANGGRAPH StateGraph(DDRState) · orchestration layer</a:t>
            </a:r>
          </a:p>
        </p:txBody>
      </p:sp>
      <p:sp>
        <p:nvSpPr>
          <p:cNvPr name="TextBox 12" id="12"/>
          <p:cNvSpPr txBox="true"/>
          <p:nvPr/>
        </p:nvSpPr>
        <p:spPr>
          <a:xfrm rot="0">
            <a:off x="12244683" y="2595959"/>
            <a:ext cx="1546819" cy="151921"/>
          </a:xfrm>
          <a:prstGeom prst="rect">
            <a:avLst/>
          </a:prstGeom>
        </p:spPr>
        <p:txBody>
          <a:bodyPr anchor="t" rtlCol="false" tIns="0" lIns="0" bIns="0" rIns="0">
            <a:spAutoFit/>
          </a:bodyPr>
          <a:lstStyle/>
          <a:p>
            <a:pPr algn="l">
              <a:lnSpc>
                <a:spcPts val="1153"/>
              </a:lnSpc>
            </a:pPr>
            <a:r>
              <a:rPr lang="en-US" b="true" sz="823">
                <a:solidFill>
                  <a:srgbClr val="9A6A00"/>
                </a:solidFill>
                <a:latin typeface="Liberation Sans Bold"/>
                <a:ea typeface="Liberation Sans Bold"/>
                <a:cs typeface="Liberation Sans Bold"/>
                <a:sym typeface="Liberation Sans Bold"/>
              </a:rPr>
              <a:t>WEB APP · PoC front end</a:t>
            </a:r>
          </a:p>
        </p:txBody>
      </p:sp>
      <p:sp>
        <p:nvSpPr>
          <p:cNvPr name="TextBox 13" id="13"/>
          <p:cNvSpPr txBox="true"/>
          <p:nvPr/>
        </p:nvSpPr>
        <p:spPr>
          <a:xfrm rot="0">
            <a:off x="432329" y="3402379"/>
            <a:ext cx="1026259" cy="109504"/>
          </a:xfrm>
          <a:prstGeom prst="rect">
            <a:avLst/>
          </a:prstGeom>
        </p:spPr>
        <p:txBody>
          <a:bodyPr anchor="t" rtlCol="false" tIns="0" lIns="0" bIns="0" rIns="0">
            <a:spAutoFit/>
          </a:bodyPr>
          <a:lstStyle/>
          <a:p>
            <a:pPr algn="l">
              <a:lnSpc>
                <a:spcPts val="845"/>
              </a:lnSpc>
            </a:pPr>
            <a:r>
              <a:rPr lang="en-US" sz="603" i="true">
                <a:solidFill>
                  <a:srgbClr val="000000"/>
                </a:solidFill>
                <a:latin typeface="Liberation Sans Italics"/>
                <a:ea typeface="Liberation Sans Italics"/>
                <a:cs typeface="Liberation Sans Italics"/>
                <a:sym typeface="Liberation Sans Italics"/>
              </a:rPr>
              <a:t>free text typed by the rig crew</a:t>
            </a:r>
          </a:p>
        </p:txBody>
      </p:sp>
      <p:sp>
        <p:nvSpPr>
          <p:cNvPr name="TextBox 14" id="14"/>
          <p:cNvSpPr txBox="true"/>
          <p:nvPr/>
        </p:nvSpPr>
        <p:spPr>
          <a:xfrm rot="0">
            <a:off x="432329" y="2667662"/>
            <a:ext cx="1455458" cy="739395"/>
          </a:xfrm>
          <a:prstGeom prst="rect">
            <a:avLst/>
          </a:prstGeom>
        </p:spPr>
        <p:txBody>
          <a:bodyPr anchor="t" rtlCol="false" tIns="0" lIns="0" bIns="0" rIns="0">
            <a:spAutoFit/>
          </a:bodyPr>
          <a:lstStyle/>
          <a:p>
            <a:pPr algn="l">
              <a:lnSpc>
                <a:spcPts val="301"/>
              </a:lnSpc>
            </a:pPr>
            <a:r>
              <a:rPr lang="en-US" b="true" sz="603">
                <a:solidFill>
                  <a:srgbClr val="000000"/>
                </a:solidFill>
                <a:latin typeface="Liberation Sans Bold"/>
                <a:ea typeface="Liberation Sans Bold"/>
                <a:cs typeface="Liberation Sans Bold"/>
                <a:sym typeface="Liberation Sans Bold"/>
              </a:rPr>
              <a:t>Sample DDR · Well W-02, Day 14</a:t>
            </a:r>
          </a:p>
          <a:p>
            <a:pPr algn="l">
              <a:lnSpc>
                <a:spcPts val="776"/>
              </a:lnSpc>
            </a:pPr>
            <a:r>
              <a:rPr lang="en-US" sz="603" spc="67">
                <a:solidFill>
                  <a:srgbClr val="000000"/>
                </a:solidFill>
                <a:latin typeface="Montserrat"/>
                <a:ea typeface="Montserrat"/>
                <a:cs typeface="Montserrat"/>
                <a:sym typeface="Montserrat"/>
              </a:rPr>
              <a:t>06:00-08:30 Drilled 12¼ in hole   2,450 m to 2,610 m 08:30-14:00 POOH, MWD tool   stopped sending data 14:00-16:00 Waited on weather,   wind above crane limit 16:00-24:00 ...</a:t>
            </a:r>
          </a:p>
        </p:txBody>
      </p:sp>
      <p:sp>
        <p:nvSpPr>
          <p:cNvPr name="TextBox 15" id="15"/>
          <p:cNvSpPr txBox="true"/>
          <p:nvPr/>
        </p:nvSpPr>
        <p:spPr>
          <a:xfrm rot="0">
            <a:off x="1629101" y="2704097"/>
            <a:ext cx="46950" cy="109804"/>
          </a:xfrm>
          <a:prstGeom prst="rect">
            <a:avLst/>
          </a:prstGeom>
        </p:spPr>
        <p:txBody>
          <a:bodyPr anchor="t" rtlCol="false" tIns="0" lIns="0" bIns="0" rIns="0">
            <a:spAutoFit/>
          </a:bodyPr>
          <a:lstStyle/>
          <a:p>
            <a:pPr algn="l">
              <a:lnSpc>
                <a:spcPts val="845"/>
              </a:lnSpc>
            </a:pPr>
            <a:r>
              <a:rPr lang="en-US" sz="603" spc="67">
                <a:solidFill>
                  <a:srgbClr val="000000"/>
                </a:solidFill>
                <a:latin typeface="Montserrat"/>
                <a:ea typeface="Montserrat"/>
                <a:cs typeface="Montserrat"/>
                <a:sym typeface="Montserrat"/>
              </a:rPr>
              <a:t> </a:t>
            </a:r>
          </a:p>
        </p:txBody>
      </p:sp>
      <p:sp>
        <p:nvSpPr>
          <p:cNvPr name="TextBox 16" id="16"/>
          <p:cNvSpPr txBox="true"/>
          <p:nvPr/>
        </p:nvSpPr>
        <p:spPr>
          <a:xfrm rot="0">
            <a:off x="432329" y="5397864"/>
            <a:ext cx="1087992" cy="185016"/>
          </a:xfrm>
          <a:prstGeom prst="rect">
            <a:avLst/>
          </a:prstGeom>
        </p:spPr>
        <p:txBody>
          <a:bodyPr anchor="t" rtlCol="false" tIns="0" lIns="0" bIns="0" rIns="0">
            <a:spAutoFit/>
          </a:bodyPr>
          <a:lstStyle/>
          <a:p>
            <a:pPr algn="l">
              <a:lnSpc>
                <a:spcPts val="713"/>
              </a:lnSpc>
            </a:pPr>
            <a:r>
              <a:rPr lang="en-US" b="true" sz="603">
                <a:solidFill>
                  <a:srgbClr val="000000"/>
                </a:solidFill>
                <a:latin typeface="Liberation Sans Bold"/>
                <a:ea typeface="Liberation Sans Bold"/>
                <a:cs typeface="Liberation Sans Bold"/>
                <a:sym typeface="Liberation Sans Bold"/>
              </a:rPr>
              <a:t>Evaluation harness (offline) </a:t>
            </a:r>
            <a:r>
              <a:rPr lang="en-US" sz="603">
                <a:solidFill>
                  <a:srgbClr val="000000"/>
                </a:solidFill>
                <a:latin typeface="Liberation Sans"/>
                <a:ea typeface="Liberation Sans"/>
                <a:cs typeface="Liberation Sans"/>
                <a:sym typeface="Liberation Sans"/>
              </a:rPr>
              <a:t>answer_key.json = ground truth</a:t>
            </a:r>
          </a:p>
        </p:txBody>
      </p:sp>
      <p:sp>
        <p:nvSpPr>
          <p:cNvPr name="TextBox 17" id="17"/>
          <p:cNvSpPr txBox="true"/>
          <p:nvPr/>
        </p:nvSpPr>
        <p:spPr>
          <a:xfrm rot="0">
            <a:off x="432329" y="5671173"/>
            <a:ext cx="1213298" cy="560201"/>
          </a:xfrm>
          <a:prstGeom prst="rect">
            <a:avLst/>
          </a:prstGeom>
        </p:spPr>
        <p:txBody>
          <a:bodyPr anchor="t" rtlCol="false" tIns="0" lIns="0" bIns="0" rIns="0">
            <a:spAutoFit/>
          </a:bodyPr>
          <a:lstStyle/>
          <a:p>
            <a:pPr algn="l">
              <a:lnSpc>
                <a:spcPts val="732"/>
              </a:lnSpc>
            </a:pPr>
            <a:r>
              <a:rPr lang="en-US" sz="603">
                <a:solidFill>
                  <a:srgbClr val="000000"/>
                </a:solidFill>
                <a:latin typeface="Liberation Sans"/>
                <a:ea typeface="Liberation Sans"/>
                <a:cs typeface="Liberation Sans"/>
                <a:sym typeface="Liberation Sans"/>
              </a:rPr>
              <a:t>· NPT hours error per report</a:t>
            </a:r>
          </a:p>
          <a:p>
            <a:pPr algn="l">
              <a:lnSpc>
                <a:spcPts val="732"/>
              </a:lnSpc>
            </a:pPr>
            <a:r>
              <a:rPr lang="en-US" sz="603">
                <a:solidFill>
                  <a:srgbClr val="000000"/>
                </a:solidFill>
                <a:latin typeface="Liberation Sans"/>
                <a:ea typeface="Liberation Sans"/>
                <a:cs typeface="Liberation Sans"/>
                <a:sym typeface="Liberation Sans"/>
              </a:rPr>
              <a:t>· NPT category accuracy</a:t>
            </a:r>
          </a:p>
          <a:p>
            <a:pPr algn="l">
              <a:lnSpc>
                <a:spcPts val="732"/>
              </a:lnSpc>
            </a:pPr>
            <a:r>
              <a:rPr lang="en-US" sz="603">
                <a:solidFill>
                  <a:srgbClr val="000000"/>
                </a:solidFill>
                <a:latin typeface="Liberation Sans"/>
                <a:ea typeface="Liberation Sans"/>
                <a:cs typeface="Liberation Sans"/>
                <a:sym typeface="Liberation Sans"/>
              </a:rPr>
              <a:t>· Critic catch rate on the 2 bad logs · with Critic vs without Critic</a:t>
            </a:r>
          </a:p>
          <a:p>
            <a:pPr algn="l">
              <a:lnSpc>
                <a:spcPts val="732"/>
              </a:lnSpc>
            </a:pPr>
            <a:r>
              <a:rPr lang="en-US" sz="603">
                <a:solidFill>
                  <a:srgbClr val="000000"/>
                </a:solidFill>
                <a:latin typeface="Liberation Sans"/>
                <a:ea typeface="Liberation Sans"/>
                <a:cs typeface="Liberation Sans"/>
                <a:sym typeface="Liberation Sans"/>
              </a:rPr>
              <a:t>· vs single prompt chatbot baseline · every claim has a source line</a:t>
            </a:r>
          </a:p>
        </p:txBody>
      </p:sp>
      <p:sp>
        <p:nvSpPr>
          <p:cNvPr name="TextBox 18" id="18"/>
          <p:cNvSpPr txBox="true"/>
          <p:nvPr/>
        </p:nvSpPr>
        <p:spPr>
          <a:xfrm rot="0">
            <a:off x="223138" y="8033679"/>
            <a:ext cx="1478566" cy="735887"/>
          </a:xfrm>
          <a:prstGeom prst="rect">
            <a:avLst/>
          </a:prstGeom>
        </p:spPr>
        <p:txBody>
          <a:bodyPr anchor="t" rtlCol="false" tIns="0" lIns="0" bIns="0" rIns="0">
            <a:spAutoFit/>
          </a:bodyPr>
          <a:lstStyle/>
          <a:p>
            <a:pPr algn="l">
              <a:lnSpc>
                <a:spcPts val="720"/>
              </a:lnSpc>
            </a:pPr>
            <a:r>
              <a:rPr lang="en-US" b="true" sz="603">
                <a:solidFill>
                  <a:srgbClr val="000000"/>
                </a:solidFill>
                <a:latin typeface="Liberation Sans Bold"/>
                <a:ea typeface="Liberation Sans Bold"/>
                <a:cs typeface="Liberation Sans Bold"/>
                <a:sym typeface="Liberation Sans Bold"/>
              </a:rPr>
              <a:t>What the Critic checks</a:t>
            </a:r>
          </a:p>
          <a:p>
            <a:pPr algn="l">
              <a:lnSpc>
                <a:spcPts val="720"/>
              </a:lnSpc>
            </a:pPr>
            <a:r>
              <a:rPr lang="en-US" sz="603">
                <a:solidFill>
                  <a:srgbClr val="000000"/>
                </a:solidFill>
                <a:latin typeface="Liberation Sans"/>
                <a:ea typeface="Liberation Sans"/>
                <a:cs typeface="Liberation Sans"/>
                <a:sym typeface="Liberation Sans"/>
              </a:rPr>
              <a:t>· durations add up to 24.0 h</a:t>
            </a:r>
          </a:p>
          <a:p>
            <a:pPr algn="l">
              <a:lnSpc>
                <a:spcPts val="720"/>
              </a:lnSpc>
            </a:pPr>
            <a:r>
              <a:rPr lang="en-US" sz="603">
                <a:solidFill>
                  <a:srgbClr val="000000"/>
                </a:solidFill>
                <a:latin typeface="Liberation Sans"/>
                <a:ea typeface="Liberation Sans"/>
                <a:cs typeface="Liberation Sans"/>
                <a:sym typeface="Liberation Sans"/>
              </a:rPr>
              <a:t>· every line has a category from npt_codes   or 'productive'</a:t>
            </a:r>
          </a:p>
          <a:p>
            <a:pPr algn="l">
              <a:lnSpc>
                <a:spcPts val="720"/>
              </a:lnSpc>
            </a:pPr>
            <a:r>
              <a:rPr lang="en-US" sz="603">
                <a:solidFill>
                  <a:srgbClr val="000000"/>
                </a:solidFill>
                <a:latin typeface="Liberation Sans"/>
                <a:ea typeface="Liberation Sans"/>
                <a:cs typeface="Liberation Sans"/>
                <a:sym typeface="Liberation Sans"/>
              </a:rPr>
              <a:t>· every NPT hour cites a source_line</a:t>
            </a:r>
          </a:p>
          <a:p>
            <a:pPr algn="l">
              <a:lnSpc>
                <a:spcPts val="720"/>
              </a:lnSpc>
            </a:pPr>
            <a:r>
              <a:rPr lang="en-US" sz="603">
                <a:solidFill>
                  <a:srgbClr val="000000"/>
                </a:solidFill>
                <a:latin typeface="Liberation Sans"/>
                <a:ea typeface="Liberation Sans"/>
                <a:cs typeface="Liberation Sans"/>
                <a:sym typeface="Liberation Sans"/>
              </a:rPr>
              <a:t>· log depth matches depth_vs_plan</a:t>
            </a:r>
          </a:p>
          <a:p>
            <a:pPr algn="l">
              <a:lnSpc>
                <a:spcPts val="720"/>
              </a:lnSpc>
            </a:pPr>
            <a:r>
              <a:rPr lang="en-US" sz="603">
                <a:solidFill>
                  <a:srgbClr val="000000"/>
                </a:solidFill>
                <a:latin typeface="Liberation Sans"/>
                <a:ea typeface="Liberation Sans"/>
                <a:cs typeface="Liberation Sans"/>
                <a:sym typeface="Liberation Sans"/>
              </a:rPr>
              <a:t>· LLM confidence ≥ 0.7, otherwise flagged · FAIL feedback names the exact problem</a:t>
            </a:r>
          </a:p>
        </p:txBody>
      </p:sp>
      <p:sp>
        <p:nvSpPr>
          <p:cNvPr name="TextBox 19" id="19"/>
          <p:cNvSpPr txBox="true"/>
          <p:nvPr/>
        </p:nvSpPr>
        <p:spPr>
          <a:xfrm rot="0">
            <a:off x="825219" y="1792795"/>
            <a:ext cx="1019112"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Synthetic DDR dataset</a:t>
            </a:r>
          </a:p>
          <a:p>
            <a:pPr algn="ctr">
              <a:lnSpc>
                <a:spcPts val="727"/>
              </a:lnSpc>
            </a:pPr>
            <a:r>
              <a:rPr lang="en-US" sz="603">
                <a:solidFill>
                  <a:srgbClr val="000000"/>
                </a:solidFill>
                <a:latin typeface="Liberation Sans"/>
                <a:ea typeface="Liberation Sans"/>
                <a:cs typeface="Liberation Sans"/>
                <a:sym typeface="Liberation Sans"/>
              </a:rPr>
              <a:t>15 reports · 3 wells × 5 days 11 with planted NPT · 2 clean 2 with deliberate log errors</a:t>
            </a:r>
          </a:p>
        </p:txBody>
      </p:sp>
      <p:sp>
        <p:nvSpPr>
          <p:cNvPr name="TextBox 20" id="20"/>
          <p:cNvSpPr txBox="true"/>
          <p:nvPr/>
        </p:nvSpPr>
        <p:spPr>
          <a:xfrm rot="0">
            <a:off x="2736812" y="1854361"/>
            <a:ext cx="469579"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read DDR file</a:t>
            </a:r>
          </a:p>
        </p:txBody>
      </p:sp>
      <p:sp>
        <p:nvSpPr>
          <p:cNvPr name="TextBox 21" id="21"/>
          <p:cNvSpPr txBox="true"/>
          <p:nvPr/>
        </p:nvSpPr>
        <p:spPr>
          <a:xfrm rot="0">
            <a:off x="3205102" y="6870539"/>
            <a:ext cx="652378" cy="197602"/>
          </a:xfrm>
          <a:prstGeom prst="rect">
            <a:avLst/>
          </a:prstGeom>
        </p:spPr>
        <p:txBody>
          <a:bodyPr anchor="t" rtlCol="false" tIns="0" lIns="0" bIns="0" rIns="0">
            <a:spAutoFit/>
          </a:bodyPr>
          <a:lstStyle/>
          <a:p>
            <a:pPr algn="ctr">
              <a:lnSpc>
                <a:spcPts val="768"/>
              </a:lnSpc>
            </a:pPr>
            <a:r>
              <a:rPr lang="en-US" sz="603">
                <a:solidFill>
                  <a:srgbClr val="6F4E7C"/>
                </a:solidFill>
                <a:latin typeface="Liberation Sans"/>
                <a:ea typeface="Liberation Sans"/>
                <a:cs typeface="Liberation Sans"/>
                <a:sym typeface="Liberation Sans"/>
              </a:rPr>
              <a:t>lookup_well_plan() get_npt_codes()</a:t>
            </a:r>
          </a:p>
        </p:txBody>
      </p:sp>
      <p:sp>
        <p:nvSpPr>
          <p:cNvPr name="TextBox 22" id="22"/>
          <p:cNvSpPr txBox="true"/>
          <p:nvPr/>
        </p:nvSpPr>
        <p:spPr>
          <a:xfrm rot="0">
            <a:off x="3157706" y="8661254"/>
            <a:ext cx="1026371"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Reference data </a:t>
            </a:r>
            <a:r>
              <a:rPr lang="en-US" sz="603">
                <a:solidFill>
                  <a:srgbClr val="000000"/>
                </a:solidFill>
                <a:latin typeface="Liberation Sans"/>
                <a:ea typeface="Liberation Sans"/>
                <a:cs typeface="Liberation Sans"/>
                <a:sym typeface="Liberation Sans"/>
              </a:rPr>
              <a:t>well_plan.csv (depth per day) npt_codes.json (6 categories) cost_budget.csv</a:t>
            </a:r>
          </a:p>
        </p:txBody>
      </p:sp>
      <p:sp>
        <p:nvSpPr>
          <p:cNvPr name="TextBox 23" id="23"/>
          <p:cNvSpPr txBox="true"/>
          <p:nvPr/>
        </p:nvSpPr>
        <p:spPr>
          <a:xfrm rot="0">
            <a:off x="4573598" y="2579558"/>
            <a:ext cx="487075"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parsed report</a:t>
            </a:r>
          </a:p>
        </p:txBody>
      </p:sp>
      <p:sp>
        <p:nvSpPr>
          <p:cNvPr name="TextBox 24" id="24"/>
          <p:cNvSpPr txBox="true"/>
          <p:nvPr/>
        </p:nvSpPr>
        <p:spPr>
          <a:xfrm rot="0">
            <a:off x="4998843" y="3988115"/>
            <a:ext cx="273985"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context</a:t>
            </a:r>
          </a:p>
        </p:txBody>
      </p:sp>
      <p:sp>
        <p:nvSpPr>
          <p:cNvPr name="TextBox 25" id="25"/>
          <p:cNvSpPr txBox="true"/>
          <p:nvPr/>
        </p:nvSpPr>
        <p:spPr>
          <a:xfrm rot="0">
            <a:off x="4909825" y="3555786"/>
            <a:ext cx="469768"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need context</a:t>
            </a:r>
          </a:p>
        </p:txBody>
      </p:sp>
      <p:sp>
        <p:nvSpPr>
          <p:cNvPr name="TextBox 26" id="26"/>
          <p:cNvSpPr txBox="true"/>
          <p:nvPr/>
        </p:nvSpPr>
        <p:spPr>
          <a:xfrm rot="0">
            <a:off x="4850199" y="6205547"/>
            <a:ext cx="639234"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search_incidents()</a:t>
            </a:r>
          </a:p>
        </p:txBody>
      </p:sp>
      <p:sp>
        <p:nvSpPr>
          <p:cNvPr name="TextBox 27" id="27"/>
          <p:cNvSpPr txBox="true"/>
          <p:nvPr/>
        </p:nvSpPr>
        <p:spPr>
          <a:xfrm rot="0">
            <a:off x="4829823" y="8704452"/>
            <a:ext cx="1029125" cy="281279"/>
          </a:xfrm>
          <a:prstGeom prst="rect">
            <a:avLst/>
          </a:prstGeom>
        </p:spPr>
        <p:txBody>
          <a:bodyPr anchor="t" rtlCol="false" tIns="0" lIns="0" bIns="0" rIns="0">
            <a:spAutoFit/>
          </a:bodyPr>
          <a:lstStyle/>
          <a:p>
            <a:pPr algn="ctr">
              <a:lnSpc>
                <a:spcPts val="713"/>
              </a:lnSpc>
            </a:pPr>
            <a:r>
              <a:rPr lang="en-US" b="true" sz="603">
                <a:solidFill>
                  <a:srgbClr val="000000"/>
                </a:solidFill>
                <a:latin typeface="Liberation Sans Bold"/>
                <a:ea typeface="Liberation Sans Bold"/>
                <a:cs typeface="Liberation Sans Bold"/>
                <a:sym typeface="Liberation Sans Bold"/>
              </a:rPr>
              <a:t>Incident memory</a:t>
            </a:r>
            <a:r>
              <a:rPr lang="en-US" sz="603">
                <a:solidFill>
                  <a:srgbClr val="000000"/>
                </a:solidFill>
                <a:latin typeface="Liberation Sans"/>
                <a:ea typeface="Liberation Sans"/>
                <a:cs typeface="Liberation Sans"/>
                <a:sym typeface="Liberation Sans"/>
              </a:rPr>
              <a:t> (SQLite) past NPT events: cause → fix + failed cases from Critic</a:t>
            </a:r>
          </a:p>
        </p:txBody>
      </p:sp>
      <p:sp>
        <p:nvSpPr>
          <p:cNvPr name="TextBox 28" id="28"/>
          <p:cNvSpPr txBox="true"/>
          <p:nvPr/>
        </p:nvSpPr>
        <p:spPr>
          <a:xfrm rot="0">
            <a:off x="5421041" y="3053726"/>
            <a:ext cx="465417"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no task_plan</a:t>
            </a:r>
          </a:p>
        </p:txBody>
      </p:sp>
      <p:sp>
        <p:nvSpPr>
          <p:cNvPr name="TextBox 29" id="29"/>
          <p:cNvSpPr txBox="true"/>
          <p:nvPr/>
        </p:nvSpPr>
        <p:spPr>
          <a:xfrm rot="0">
            <a:off x="5451631" y="4420445"/>
            <a:ext cx="478289" cy="109504"/>
          </a:xfrm>
          <a:prstGeom prst="rect">
            <a:avLst/>
          </a:prstGeom>
        </p:spPr>
        <p:txBody>
          <a:bodyPr anchor="t" rtlCol="false" tIns="0" lIns="0" bIns="0" rIns="0">
            <a:spAutoFit/>
          </a:bodyPr>
          <a:lstStyle/>
          <a:p>
            <a:pPr algn="l">
              <a:lnSpc>
                <a:spcPts val="845"/>
              </a:lnSpc>
            </a:pPr>
            <a:r>
              <a:rPr lang="en-US" sz="603">
                <a:solidFill>
                  <a:srgbClr val="0E7AB0"/>
                </a:solidFill>
                <a:latin typeface="Liberation Sans"/>
                <a:ea typeface="Liberation Sans"/>
                <a:cs typeface="Liberation Sans"/>
                <a:sym typeface="Liberation Sans"/>
              </a:rPr>
              <a:t> check results</a:t>
            </a:r>
          </a:p>
        </p:txBody>
      </p:sp>
      <p:sp>
        <p:nvSpPr>
          <p:cNvPr name="TextBox 30" id="30"/>
          <p:cNvSpPr txBox="true"/>
          <p:nvPr/>
        </p:nvSpPr>
        <p:spPr>
          <a:xfrm rot="0">
            <a:off x="5036944" y="7377020"/>
            <a:ext cx="1339440"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final_report scored against answer key</a:t>
            </a:r>
          </a:p>
        </p:txBody>
      </p:sp>
      <p:sp>
        <p:nvSpPr>
          <p:cNvPr name="TextBox 31" id="31"/>
          <p:cNvSpPr txBox="true"/>
          <p:nvPr/>
        </p:nvSpPr>
        <p:spPr>
          <a:xfrm rot="0">
            <a:off x="5281761" y="7544373"/>
            <a:ext cx="569706" cy="109504"/>
          </a:xfrm>
          <a:prstGeom prst="rect">
            <a:avLst/>
          </a:prstGeom>
        </p:spPr>
        <p:txBody>
          <a:bodyPr anchor="t" rtlCol="false" tIns="0" lIns="0" bIns="0" rIns="0">
            <a:spAutoFit/>
          </a:bodyPr>
          <a:lstStyle/>
          <a:p>
            <a:pPr algn="l">
              <a:lnSpc>
                <a:spcPts val="845"/>
              </a:lnSpc>
            </a:pPr>
            <a:r>
              <a:rPr lang="en-US" sz="603">
                <a:solidFill>
                  <a:srgbClr val="B30F00"/>
                </a:solidFill>
                <a:latin typeface="Liberation Sans"/>
                <a:ea typeface="Liberation Sans"/>
                <a:cs typeface="Liberation Sans"/>
                <a:sym typeface="Liberation Sans"/>
              </a:rPr>
              <a:t>store failed case</a:t>
            </a:r>
          </a:p>
        </p:txBody>
      </p:sp>
      <p:sp>
        <p:nvSpPr>
          <p:cNvPr name="TextBox 32" id="32"/>
          <p:cNvSpPr txBox="true"/>
          <p:nvPr/>
        </p:nvSpPr>
        <p:spPr>
          <a:xfrm rot="0">
            <a:off x="6375226" y="4748178"/>
            <a:ext cx="252174"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verdict</a:t>
            </a:r>
          </a:p>
        </p:txBody>
      </p:sp>
      <p:sp>
        <p:nvSpPr>
          <p:cNvPr name="TextBox 33" id="33"/>
          <p:cNvSpPr txBox="true"/>
          <p:nvPr/>
        </p:nvSpPr>
        <p:spPr>
          <a:xfrm rot="0">
            <a:off x="7216783" y="6033772"/>
            <a:ext cx="647985" cy="197602"/>
          </a:xfrm>
          <a:prstGeom prst="rect">
            <a:avLst/>
          </a:prstGeom>
        </p:spPr>
        <p:txBody>
          <a:bodyPr anchor="t" rtlCol="false" tIns="0" lIns="0" bIns="0" rIns="0">
            <a:spAutoFit/>
          </a:bodyPr>
          <a:lstStyle/>
          <a:p>
            <a:pPr algn="ctr">
              <a:lnSpc>
                <a:spcPts val="768"/>
              </a:lnSpc>
            </a:pPr>
            <a:r>
              <a:rPr lang="en-US" sz="603">
                <a:solidFill>
                  <a:srgbClr val="B30F00"/>
                </a:solidFill>
                <a:latin typeface="Liberation Sans"/>
                <a:ea typeface="Liberation Sans"/>
                <a:cs typeface="Liberation Sans"/>
                <a:sym typeface="Liberation Sans"/>
              </a:rPr>
              <a:t>rejected + engineer comment</a:t>
            </a:r>
          </a:p>
        </p:txBody>
      </p:sp>
      <p:sp>
        <p:nvSpPr>
          <p:cNvPr name="TextBox 34" id="34"/>
          <p:cNvSpPr txBox="true"/>
          <p:nvPr/>
        </p:nvSpPr>
        <p:spPr>
          <a:xfrm rot="0">
            <a:off x="7610468" y="3988115"/>
            <a:ext cx="252174"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results</a:t>
            </a:r>
          </a:p>
        </p:txBody>
      </p:sp>
      <p:sp>
        <p:nvSpPr>
          <p:cNvPr name="TextBox 35" id="35"/>
          <p:cNvSpPr txBox="true"/>
          <p:nvPr/>
        </p:nvSpPr>
        <p:spPr>
          <a:xfrm rot="0">
            <a:off x="7500210" y="3555786"/>
            <a:ext cx="491433"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context ready</a:t>
            </a:r>
          </a:p>
        </p:txBody>
      </p:sp>
      <p:sp>
        <p:nvSpPr>
          <p:cNvPr name="TextBox 36" id="36"/>
          <p:cNvSpPr txBox="true"/>
          <p:nvPr/>
        </p:nvSpPr>
        <p:spPr>
          <a:xfrm rot="0">
            <a:off x="6867949" y="982729"/>
            <a:ext cx="1226358" cy="109504"/>
          </a:xfrm>
          <a:prstGeom prst="rect">
            <a:avLst/>
          </a:prstGeom>
        </p:spPr>
        <p:txBody>
          <a:bodyPr anchor="t" rtlCol="false" tIns="0" lIns="0" bIns="0" rIns="0">
            <a:spAutoFit/>
          </a:bodyPr>
          <a:lstStyle/>
          <a:p>
            <a:pPr algn="l">
              <a:lnSpc>
                <a:spcPts val="845"/>
              </a:lnSpc>
            </a:pPr>
            <a:r>
              <a:rPr lang="en-US" sz="603">
                <a:solidFill>
                  <a:srgbClr val="9A6A00"/>
                </a:solidFill>
                <a:latin typeface="Liberation Sans"/>
                <a:ea typeface="Liberation Sans"/>
                <a:cs typeface="Liberation Sans"/>
                <a:sym typeface="Liberation Sans"/>
              </a:rPr>
              <a:t> app.stream(initial_state, thread_id)</a:t>
            </a:r>
          </a:p>
        </p:txBody>
      </p:sp>
      <p:sp>
        <p:nvSpPr>
          <p:cNvPr name="TextBox 37" id="37"/>
          <p:cNvSpPr txBox="true"/>
          <p:nvPr/>
        </p:nvSpPr>
        <p:spPr>
          <a:xfrm rot="0">
            <a:off x="7878680" y="4559906"/>
            <a:ext cx="855231" cy="109504"/>
          </a:xfrm>
          <a:prstGeom prst="rect">
            <a:avLst/>
          </a:prstGeom>
        </p:spPr>
        <p:txBody>
          <a:bodyPr anchor="t" rtlCol="false" tIns="0" lIns="0" bIns="0" rIns="0">
            <a:spAutoFit/>
          </a:bodyPr>
          <a:lstStyle/>
          <a:p>
            <a:pPr algn="l">
              <a:lnSpc>
                <a:spcPts val="845"/>
              </a:lnSpc>
            </a:pPr>
            <a:r>
              <a:rPr lang="en-US" sz="603">
                <a:solidFill>
                  <a:srgbClr val="0000AA"/>
                </a:solidFill>
                <a:latin typeface="Liberation Sans"/>
                <a:ea typeface="Liberation Sans"/>
                <a:cs typeface="Liberation Sans"/>
                <a:sym typeface="Liberation Sans"/>
              </a:rPr>
              <a:t> PASS or retries used up</a:t>
            </a:r>
          </a:p>
        </p:txBody>
      </p:sp>
      <p:sp>
        <p:nvSpPr>
          <p:cNvPr name="TextBox 38" id="38"/>
          <p:cNvSpPr txBox="true"/>
          <p:nvPr/>
        </p:nvSpPr>
        <p:spPr>
          <a:xfrm rot="0">
            <a:off x="8732879" y="7916497"/>
            <a:ext cx="400128" cy="197602"/>
          </a:xfrm>
          <a:prstGeom prst="rect">
            <a:avLst/>
          </a:prstGeom>
        </p:spPr>
        <p:txBody>
          <a:bodyPr anchor="t" rtlCol="false" tIns="0" lIns="0" bIns="0" rIns="0">
            <a:spAutoFit/>
          </a:bodyPr>
          <a:lstStyle/>
          <a:p>
            <a:pPr algn="ctr">
              <a:lnSpc>
                <a:spcPts val="768"/>
              </a:lnSpc>
            </a:pPr>
            <a:r>
              <a:rPr lang="en-US" sz="603">
                <a:solidFill>
                  <a:srgbClr val="555555"/>
                </a:solidFill>
                <a:latin typeface="Liberation Sans"/>
                <a:ea typeface="Liberation Sans"/>
                <a:cs typeface="Liberation Sans"/>
                <a:sym typeface="Liberation Sans"/>
              </a:rPr>
              <a:t>state saved every step</a:t>
            </a:r>
          </a:p>
        </p:txBody>
      </p:sp>
      <p:sp>
        <p:nvSpPr>
          <p:cNvPr name="TextBox 39" id="39"/>
          <p:cNvSpPr txBox="true"/>
          <p:nvPr/>
        </p:nvSpPr>
        <p:spPr>
          <a:xfrm rot="0">
            <a:off x="6896818" y="2942157"/>
            <a:ext cx="356651"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task_plan</a:t>
            </a:r>
          </a:p>
        </p:txBody>
      </p:sp>
      <p:sp>
        <p:nvSpPr>
          <p:cNvPr name="TextBox 40" id="40"/>
          <p:cNvSpPr txBox="true"/>
          <p:nvPr/>
        </p:nvSpPr>
        <p:spPr>
          <a:xfrm rot="0">
            <a:off x="7206540" y="3018512"/>
            <a:ext cx="2190808" cy="112726"/>
          </a:xfrm>
          <a:prstGeom prst="rect">
            <a:avLst/>
          </a:prstGeom>
        </p:spPr>
        <p:txBody>
          <a:bodyPr anchor="t" rtlCol="false" tIns="0" lIns="0" bIns="0" rIns="0">
            <a:spAutoFit/>
          </a:bodyPr>
          <a:lstStyle/>
          <a:p>
            <a:pPr algn="l">
              <a:lnSpc>
                <a:spcPts val="845"/>
              </a:lnSpc>
            </a:pPr>
            <a:r>
              <a:rPr lang="en-US" sz="603">
                <a:solidFill>
                  <a:srgbClr val="B30F00"/>
                </a:solidFill>
                <a:latin typeface="Liberation Sans"/>
                <a:ea typeface="Liberation Sans"/>
                <a:cs typeface="Liberation Sans"/>
                <a:sym typeface="Liberation Sans"/>
              </a:rPr>
              <a:t>⑫ Critic FAIL and retry_count &lt; 3 → re-run with critic_feedback</a:t>
            </a:r>
          </a:p>
        </p:txBody>
      </p:sp>
      <p:sp>
        <p:nvSpPr>
          <p:cNvPr name="TextBox 41" id="41"/>
          <p:cNvSpPr txBox="true"/>
          <p:nvPr/>
        </p:nvSpPr>
        <p:spPr>
          <a:xfrm rot="0">
            <a:off x="9110512" y="7070205"/>
            <a:ext cx="347983" cy="109504"/>
          </a:xfrm>
          <a:prstGeom prst="rect">
            <a:avLst/>
          </a:prstGeom>
        </p:spPr>
        <p:txBody>
          <a:bodyPr anchor="t" rtlCol="false" tIns="0" lIns="0" bIns="0" rIns="0">
            <a:spAutoFit/>
          </a:bodyPr>
          <a:lstStyle/>
          <a:p>
            <a:pPr algn="l">
              <a:lnSpc>
                <a:spcPts val="845"/>
              </a:lnSpc>
            </a:pPr>
            <a:r>
              <a:rPr lang="en-US" sz="603">
                <a:solidFill>
                  <a:srgbClr val="0000AA"/>
                </a:solidFill>
                <a:latin typeface="Liberation Sans"/>
                <a:ea typeface="Liberation Sans"/>
                <a:cs typeface="Liberation Sans"/>
                <a:sym typeface="Liberation Sans"/>
              </a:rPr>
              <a:t> approved</a:t>
            </a:r>
          </a:p>
        </p:txBody>
      </p:sp>
      <p:sp>
        <p:nvSpPr>
          <p:cNvPr name="TextBox 42" id="42"/>
          <p:cNvSpPr txBox="true"/>
          <p:nvPr/>
        </p:nvSpPr>
        <p:spPr>
          <a:xfrm rot="0">
            <a:off x="9117812" y="5898732"/>
            <a:ext cx="404409"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draft report</a:t>
            </a:r>
          </a:p>
        </p:txBody>
      </p:sp>
      <p:sp>
        <p:nvSpPr>
          <p:cNvPr name="TextBox 43" id="43"/>
          <p:cNvSpPr txBox="true"/>
          <p:nvPr/>
        </p:nvSpPr>
        <p:spPr>
          <a:xfrm rot="0">
            <a:off x="8246508" y="8661254"/>
            <a:ext cx="1385128"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Checkpointer</a:t>
            </a:r>
          </a:p>
          <a:p>
            <a:pPr algn="ctr">
              <a:lnSpc>
                <a:spcPts val="727"/>
              </a:lnSpc>
            </a:pPr>
            <a:r>
              <a:rPr lang="en-US" sz="603">
                <a:solidFill>
                  <a:srgbClr val="000000"/>
                </a:solidFill>
                <a:latin typeface="Liberation Sans"/>
                <a:ea typeface="Liberation Sans"/>
                <a:cs typeface="Liberation Sans"/>
                <a:sym typeface="Liberation Sans"/>
              </a:rPr>
              <a:t>SqliteSaver / MemorySaver</a:t>
            </a:r>
          </a:p>
          <a:p>
            <a:pPr algn="ctr">
              <a:lnSpc>
                <a:spcPts val="727"/>
              </a:lnSpc>
            </a:pPr>
            <a:r>
              <a:rPr lang="en-US" sz="603">
                <a:solidFill>
                  <a:srgbClr val="000000"/>
                </a:solidFill>
                <a:latin typeface="Liberation Sans"/>
                <a:ea typeface="Liberation Sans"/>
                <a:cs typeface="Liberation Sans"/>
                <a:sym typeface="Liberation Sans"/>
              </a:rPr>
              <a:t>saves DDRState after every step</a:t>
            </a:r>
          </a:p>
          <a:p>
            <a:pPr algn="ctr">
              <a:lnSpc>
                <a:spcPts val="727"/>
              </a:lnSpc>
            </a:pPr>
            <a:r>
              <a:rPr lang="en-US" sz="603">
                <a:solidFill>
                  <a:srgbClr val="000000"/>
                </a:solidFill>
                <a:latin typeface="Liberation Sans"/>
                <a:ea typeface="Liberation Sans"/>
                <a:cs typeface="Liberation Sans"/>
                <a:sym typeface="Liberation Sans"/>
              </a:rPr>
              <a:t>per thread_id → allows pause + resume</a:t>
            </a:r>
          </a:p>
        </p:txBody>
      </p:sp>
      <p:sp>
        <p:nvSpPr>
          <p:cNvPr name="TextBox 44" id="44"/>
          <p:cNvSpPr txBox="true"/>
          <p:nvPr/>
        </p:nvSpPr>
        <p:spPr>
          <a:xfrm rot="0">
            <a:off x="9966566" y="3988115"/>
            <a:ext cx="230432"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results</a:t>
            </a:r>
          </a:p>
        </p:txBody>
      </p:sp>
      <p:sp>
        <p:nvSpPr>
          <p:cNvPr name="TextBox 45" id="45"/>
          <p:cNvSpPr txBox="true"/>
          <p:nvPr/>
        </p:nvSpPr>
        <p:spPr>
          <a:xfrm rot="0">
            <a:off x="9962347" y="3562759"/>
            <a:ext cx="347907"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 tool_calls</a:t>
            </a:r>
          </a:p>
        </p:txBody>
      </p:sp>
      <p:sp>
        <p:nvSpPr>
          <p:cNvPr name="TextBox 46" id="46"/>
          <p:cNvSpPr txBox="true"/>
          <p:nvPr/>
        </p:nvSpPr>
        <p:spPr>
          <a:xfrm rot="0">
            <a:off x="10758767" y="5340888"/>
            <a:ext cx="534826"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final state → UI</a:t>
            </a:r>
          </a:p>
        </p:txBody>
      </p:sp>
      <p:sp>
        <p:nvSpPr>
          <p:cNvPr name="TextBox 47" id="47"/>
          <p:cNvSpPr txBox="true"/>
          <p:nvPr/>
        </p:nvSpPr>
        <p:spPr>
          <a:xfrm rot="0">
            <a:off x="10730987" y="6658795"/>
            <a:ext cx="591406"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resume: decision</a:t>
            </a:r>
          </a:p>
        </p:txBody>
      </p:sp>
      <p:sp>
        <p:nvSpPr>
          <p:cNvPr name="TextBox 48" id="48"/>
          <p:cNvSpPr txBox="true"/>
          <p:nvPr/>
        </p:nvSpPr>
        <p:spPr>
          <a:xfrm rot="0">
            <a:off x="10459581" y="3508167"/>
            <a:ext cx="865119" cy="645237"/>
          </a:xfrm>
          <a:prstGeom prst="rect">
            <a:avLst/>
          </a:prstGeom>
        </p:spPr>
        <p:txBody>
          <a:bodyPr anchor="t" rtlCol="false" tIns="0" lIns="0" bIns="0" rIns="0">
            <a:spAutoFit/>
          </a:bodyPr>
          <a:lstStyle/>
          <a:p>
            <a:pPr algn="l">
              <a:lnSpc>
                <a:spcPts val="721"/>
              </a:lnSpc>
            </a:pPr>
            <a:r>
              <a:rPr lang="en-US" b="true" sz="603">
                <a:solidFill>
                  <a:srgbClr val="000000"/>
                </a:solidFill>
                <a:latin typeface="Liberation Sans Bold"/>
                <a:ea typeface="Liberation Sans Bold"/>
                <a:cs typeface="Liberation Sans Bold"/>
                <a:sym typeface="Liberation Sans Bold"/>
              </a:rPr>
              <a:t>tools (ToolNode) </a:t>
            </a:r>
            <a:r>
              <a:rPr lang="en-US" sz="603">
                <a:solidFill>
                  <a:srgbClr val="000000"/>
                </a:solidFill>
                <a:latin typeface="Liberation Sans"/>
                <a:ea typeface="Liberation Sans"/>
                <a:cs typeface="Liberation Sans"/>
                <a:sym typeface="Liberation Sans"/>
              </a:rPr>
              <a:t>parse_time_log() sum_hours()</a:t>
            </a:r>
          </a:p>
          <a:p>
            <a:pPr algn="l">
              <a:lnSpc>
                <a:spcPts val="721"/>
              </a:lnSpc>
            </a:pPr>
            <a:r>
              <a:rPr lang="en-US" sz="603">
                <a:solidFill>
                  <a:srgbClr val="000000"/>
                </a:solidFill>
                <a:latin typeface="Liberation Sans"/>
                <a:ea typeface="Liberation Sans"/>
                <a:cs typeface="Liberation Sans"/>
                <a:sym typeface="Liberation Sans"/>
              </a:rPr>
              <a:t>calc_rop() depth_vs_plan() cost_vs_budget() classify_activities() → LLM</a:t>
            </a:r>
          </a:p>
        </p:txBody>
      </p:sp>
      <p:sp>
        <p:nvSpPr>
          <p:cNvPr name="TextBox 49" id="49"/>
          <p:cNvSpPr txBox="true"/>
          <p:nvPr/>
        </p:nvSpPr>
        <p:spPr>
          <a:xfrm rot="0">
            <a:off x="10681959" y="6324088"/>
            <a:ext cx="691420"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interrupt: show draft</a:t>
            </a:r>
          </a:p>
        </p:txBody>
      </p:sp>
      <p:sp>
        <p:nvSpPr>
          <p:cNvPr name="TextBox 50" id="50"/>
          <p:cNvSpPr txBox="true"/>
          <p:nvPr/>
        </p:nvSpPr>
        <p:spPr>
          <a:xfrm rot="0">
            <a:off x="10786883" y="2275296"/>
            <a:ext cx="591217" cy="197602"/>
          </a:xfrm>
          <a:prstGeom prst="rect">
            <a:avLst/>
          </a:prstGeom>
        </p:spPr>
        <p:txBody>
          <a:bodyPr anchor="t" rtlCol="false" tIns="0" lIns="0" bIns="0" rIns="0">
            <a:spAutoFit/>
          </a:bodyPr>
          <a:lstStyle/>
          <a:p>
            <a:pPr algn="ctr">
              <a:lnSpc>
                <a:spcPts val="768"/>
              </a:lnSpc>
            </a:pPr>
            <a:r>
              <a:rPr lang="en-US" sz="603">
                <a:solidFill>
                  <a:srgbClr val="6F4E7C"/>
                </a:solidFill>
                <a:latin typeface="Liberation Sans"/>
                <a:ea typeface="Liberation Sans"/>
                <a:cs typeface="Liberation Sans"/>
                <a:sym typeface="Liberation Sans"/>
              </a:rPr>
              <a:t>labelling calls the LLM</a:t>
            </a:r>
          </a:p>
        </p:txBody>
      </p:sp>
      <p:sp>
        <p:nvSpPr>
          <p:cNvPr name="TextBox 51" id="51"/>
          <p:cNvSpPr txBox="true"/>
          <p:nvPr/>
        </p:nvSpPr>
        <p:spPr>
          <a:xfrm rot="0">
            <a:off x="10403797" y="8033679"/>
            <a:ext cx="2061151" cy="833510"/>
          </a:xfrm>
          <a:prstGeom prst="rect">
            <a:avLst/>
          </a:prstGeom>
        </p:spPr>
        <p:txBody>
          <a:bodyPr anchor="t" rtlCol="false" tIns="0" lIns="0" bIns="0" rIns="0">
            <a:spAutoFit/>
          </a:bodyPr>
          <a:lstStyle/>
          <a:p>
            <a:pPr algn="l">
              <a:lnSpc>
                <a:spcPts val="732"/>
              </a:lnSpc>
            </a:pPr>
            <a:r>
              <a:rPr lang="en-US" b="true" sz="603">
                <a:solidFill>
                  <a:srgbClr val="000000"/>
                </a:solidFill>
                <a:latin typeface="Liberation Sans Bold"/>
                <a:ea typeface="Liberation Sans Bold"/>
                <a:cs typeface="Liberation Sans Bold"/>
                <a:sym typeface="Liberation Sans Bold"/>
              </a:rPr>
              <a:t>route(state) · Orchestrator routing rules</a:t>
            </a:r>
          </a:p>
          <a:p>
            <a:pPr algn="l">
              <a:lnSpc>
                <a:spcPts val="732"/>
              </a:lnSpc>
            </a:pPr>
            <a:r>
              <a:rPr lang="en-US" sz="603">
                <a:solidFill>
                  <a:srgbClr val="000000"/>
                </a:solidFill>
                <a:latin typeface="Liberation Sans"/>
                <a:ea typeface="Liberation Sans"/>
                <a:cs typeface="Liberation Sans"/>
                <a:sym typeface="Liberation Sans"/>
              </a:rPr>
              <a:t>1. task_plan empty → </a:t>
            </a:r>
            <a:r>
              <a:rPr lang="en-US" b="true" sz="603">
                <a:solidFill>
                  <a:srgbClr val="000000"/>
                </a:solidFill>
                <a:latin typeface="Liberation Sans Bold"/>
                <a:ea typeface="Liberation Sans Bold"/>
                <a:cs typeface="Liberation Sans Bold"/>
                <a:sym typeface="Liberation Sans Bold"/>
              </a:rPr>
              <a:t>planner</a:t>
            </a:r>
          </a:p>
          <a:p>
            <a:pPr algn="l">
              <a:lnSpc>
                <a:spcPts val="732"/>
              </a:lnSpc>
            </a:pPr>
            <a:r>
              <a:rPr lang="en-US" sz="603">
                <a:solidFill>
                  <a:srgbClr val="000000"/>
                </a:solidFill>
                <a:latin typeface="Liberation Sans"/>
                <a:ea typeface="Liberation Sans"/>
                <a:cs typeface="Liberation Sans"/>
                <a:sym typeface="Liberation Sans"/>
              </a:rPr>
              <a:t>2. well_plan or similar_events missing → </a:t>
            </a:r>
            <a:r>
              <a:rPr lang="en-US" b="true" sz="603">
                <a:solidFill>
                  <a:srgbClr val="000000"/>
                </a:solidFill>
                <a:latin typeface="Liberation Sans Bold"/>
                <a:ea typeface="Liberation Sans Bold"/>
                <a:cs typeface="Liberation Sans Bold"/>
                <a:sym typeface="Liberation Sans Bold"/>
              </a:rPr>
              <a:t>research</a:t>
            </a:r>
          </a:p>
          <a:p>
            <a:pPr algn="l">
              <a:lnSpc>
                <a:spcPts val="732"/>
              </a:lnSpc>
            </a:pPr>
            <a:r>
              <a:rPr lang="en-US" sz="603">
                <a:solidFill>
                  <a:srgbClr val="000000"/>
                </a:solidFill>
                <a:latin typeface="Liberation Sans"/>
                <a:ea typeface="Liberation Sans"/>
                <a:cs typeface="Liberation Sans"/>
                <a:sym typeface="Liberation Sans"/>
              </a:rPr>
              <a:t>3. activities empty → </a:t>
            </a:r>
            <a:r>
              <a:rPr lang="en-US" b="true" sz="603">
                <a:solidFill>
                  <a:srgbClr val="000000"/>
                </a:solidFill>
                <a:latin typeface="Liberation Sans Bold"/>
                <a:ea typeface="Liberation Sans Bold"/>
                <a:cs typeface="Liberation Sans Bold"/>
                <a:sym typeface="Liberation Sans Bold"/>
              </a:rPr>
              <a:t>executor</a:t>
            </a:r>
          </a:p>
          <a:p>
            <a:pPr algn="l">
              <a:lnSpc>
                <a:spcPts val="732"/>
              </a:lnSpc>
            </a:pPr>
            <a:r>
              <a:rPr lang="en-US" sz="603">
                <a:solidFill>
                  <a:srgbClr val="000000"/>
                </a:solidFill>
                <a:latin typeface="Liberation Sans"/>
                <a:ea typeface="Liberation Sans"/>
                <a:cs typeface="Liberation Sans"/>
                <a:sym typeface="Liberation Sans"/>
              </a:rPr>
              <a:t>4. critic_verdict missing → </a:t>
            </a:r>
            <a:r>
              <a:rPr lang="en-US" b="true" sz="603">
                <a:solidFill>
                  <a:srgbClr val="000000"/>
                </a:solidFill>
                <a:latin typeface="Liberation Sans Bold"/>
                <a:ea typeface="Liberation Sans Bold"/>
                <a:cs typeface="Liberation Sans Bold"/>
                <a:sym typeface="Liberation Sans Bold"/>
              </a:rPr>
              <a:t>critic</a:t>
            </a:r>
          </a:p>
          <a:p>
            <a:pPr algn="l">
              <a:lnSpc>
                <a:spcPts val="732"/>
              </a:lnSpc>
            </a:pPr>
            <a:r>
              <a:rPr lang="en-US" sz="603">
                <a:solidFill>
                  <a:srgbClr val="000000"/>
                </a:solidFill>
                <a:latin typeface="Liberation Sans"/>
                <a:ea typeface="Liberation Sans"/>
                <a:cs typeface="Liberation Sans"/>
                <a:sym typeface="Liberation Sans"/>
              </a:rPr>
              <a:t>5. fixable FAIL and retry_count &lt; 3 → </a:t>
            </a:r>
            <a:r>
              <a:rPr lang="en-US" b="true" sz="603">
                <a:solidFill>
                  <a:srgbClr val="000000"/>
                </a:solidFill>
                <a:latin typeface="Liberation Sans Bold"/>
                <a:ea typeface="Liberation Sans Bold"/>
                <a:cs typeface="Liberation Sans Bold"/>
                <a:sym typeface="Liberation Sans Bold"/>
              </a:rPr>
              <a:t>executor</a:t>
            </a:r>
            <a:r>
              <a:rPr lang="en-US" sz="603">
                <a:solidFill>
                  <a:srgbClr val="000000"/>
                </a:solidFill>
                <a:latin typeface="Liberation Sans"/>
                <a:ea typeface="Liberation Sans"/>
                <a:cs typeface="Liberation Sans"/>
                <a:sym typeface="Liberation Sans"/>
              </a:rPr>
              <a:t> (retry_count += 1) 6. PASS, unfixable FAIL or retry_count = 3 → </a:t>
            </a:r>
            <a:r>
              <a:rPr lang="en-US" b="true" sz="603">
                <a:solidFill>
                  <a:srgbClr val="000000"/>
                </a:solidFill>
                <a:latin typeface="Liberation Sans Bold"/>
                <a:ea typeface="Liberation Sans Bold"/>
                <a:cs typeface="Liberation Sans Bold"/>
                <a:sym typeface="Liberation Sans Bold"/>
              </a:rPr>
              <a:t>report_writer</a:t>
            </a:r>
          </a:p>
          <a:p>
            <a:pPr algn="l">
              <a:lnSpc>
                <a:spcPts val="732"/>
              </a:lnSpc>
            </a:pPr>
            <a:r>
              <a:rPr lang="en-US" sz="603">
                <a:solidFill>
                  <a:srgbClr val="000000"/>
                </a:solidFill>
                <a:latin typeface="Liberation Sans"/>
                <a:ea typeface="Liberation Sans"/>
                <a:cs typeface="Liberation Sans"/>
                <a:sym typeface="Liberation Sans"/>
              </a:rPr>
              <a:t>7. engineer rejects → clear verdict, keep comment → rule 3 </a:t>
            </a:r>
            <a:r>
              <a:rPr lang="en-US" sz="603" i="true">
                <a:solidFill>
                  <a:srgbClr val="000000"/>
                </a:solidFill>
                <a:latin typeface="Liberation Sans Italics"/>
                <a:ea typeface="Liberation Sans Italics"/>
                <a:cs typeface="Liberation Sans Italics"/>
                <a:sym typeface="Liberation Sans Italics"/>
              </a:rPr>
              <a:t>Safety: recursion_limit = 50 per run</a:t>
            </a:r>
          </a:p>
        </p:txBody>
      </p:sp>
      <p:sp>
        <p:nvSpPr>
          <p:cNvPr name="TextBox 52" id="52"/>
          <p:cNvSpPr txBox="true"/>
          <p:nvPr/>
        </p:nvSpPr>
        <p:spPr>
          <a:xfrm rot="0">
            <a:off x="12342306" y="2889650"/>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①</a:t>
            </a:r>
          </a:p>
        </p:txBody>
      </p:sp>
      <p:sp>
        <p:nvSpPr>
          <p:cNvPr name="TextBox 53" id="53"/>
          <p:cNvSpPr txBox="true"/>
          <p:nvPr/>
        </p:nvSpPr>
        <p:spPr>
          <a:xfrm rot="0">
            <a:off x="12448896" y="2905932"/>
            <a:ext cx="526082"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Report picker</a:t>
            </a:r>
          </a:p>
        </p:txBody>
      </p:sp>
      <p:sp>
        <p:nvSpPr>
          <p:cNvPr name="TextBox 54" id="54"/>
          <p:cNvSpPr txBox="true"/>
          <p:nvPr/>
        </p:nvSpPr>
        <p:spPr>
          <a:xfrm rot="0">
            <a:off x="12342306" y="3000494"/>
            <a:ext cx="1134830"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report dropdown → 15 DDRs Run button starts the graph</a:t>
            </a:r>
          </a:p>
        </p:txBody>
      </p:sp>
      <p:sp>
        <p:nvSpPr>
          <p:cNvPr name="TextBox 55" id="55"/>
          <p:cNvSpPr txBox="true"/>
          <p:nvPr/>
        </p:nvSpPr>
        <p:spPr>
          <a:xfrm rot="0">
            <a:off x="12342306" y="6341312"/>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⑤</a:t>
            </a:r>
          </a:p>
        </p:txBody>
      </p:sp>
      <p:sp>
        <p:nvSpPr>
          <p:cNvPr name="TextBox 56" id="56"/>
          <p:cNvSpPr txBox="true"/>
          <p:nvPr/>
        </p:nvSpPr>
        <p:spPr>
          <a:xfrm rot="0">
            <a:off x="12448896" y="6357594"/>
            <a:ext cx="621815"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Engineer review</a:t>
            </a:r>
          </a:p>
        </p:txBody>
      </p:sp>
      <p:sp>
        <p:nvSpPr>
          <p:cNvPr name="TextBox 57" id="57"/>
          <p:cNvSpPr txBox="true"/>
          <p:nvPr/>
        </p:nvSpPr>
        <p:spPr>
          <a:xfrm rot="0">
            <a:off x="12342306" y="6452155"/>
            <a:ext cx="1229573" cy="288252"/>
          </a:xfrm>
          <a:prstGeom prst="rect">
            <a:avLst/>
          </a:prstGeom>
        </p:spPr>
        <p:txBody>
          <a:bodyPr anchor="t" rtlCol="false" tIns="0" lIns="0" bIns="0" rIns="0">
            <a:spAutoFit/>
          </a:bodyPr>
          <a:lstStyle/>
          <a:p>
            <a:pPr algn="l">
              <a:lnSpc>
                <a:spcPts val="732"/>
              </a:lnSpc>
            </a:pPr>
            <a:r>
              <a:rPr lang="en-US" sz="603">
                <a:solidFill>
                  <a:srgbClr val="000000"/>
                </a:solidFill>
                <a:latin typeface="Liberation Sans"/>
                <a:ea typeface="Liberation Sans"/>
                <a:cs typeface="Liberation Sans"/>
                <a:sym typeface="Liberation Sans"/>
              </a:rPr>
              <a:t>Approve / Reject + comment</a:t>
            </a:r>
          </a:p>
          <a:p>
            <a:pPr algn="l">
              <a:lnSpc>
                <a:spcPts val="732"/>
              </a:lnSpc>
            </a:pPr>
            <a:r>
              <a:rPr lang="en-US" sz="603">
                <a:solidFill>
                  <a:srgbClr val="000000"/>
                </a:solidFill>
                <a:latin typeface="Liberation Sans"/>
                <a:ea typeface="Liberation Sans"/>
                <a:cs typeface="Liberation Sans"/>
                <a:sym typeface="Liberation Sans"/>
              </a:rPr>
              <a:t>→ app.invoke(Command(resume=   {'decision', 'comment'}), thread_id)</a:t>
            </a:r>
          </a:p>
        </p:txBody>
      </p:sp>
      <p:sp>
        <p:nvSpPr>
          <p:cNvPr name="TextBox 58" id="58"/>
          <p:cNvSpPr txBox="true"/>
          <p:nvPr/>
        </p:nvSpPr>
        <p:spPr>
          <a:xfrm rot="0">
            <a:off x="12342306" y="3517225"/>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②</a:t>
            </a:r>
          </a:p>
        </p:txBody>
      </p:sp>
      <p:sp>
        <p:nvSpPr>
          <p:cNvPr name="TextBox 59" id="59"/>
          <p:cNvSpPr txBox="true"/>
          <p:nvPr/>
        </p:nvSpPr>
        <p:spPr>
          <a:xfrm rot="0">
            <a:off x="12448896" y="3533507"/>
            <a:ext cx="675333"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Agent trace panel</a:t>
            </a:r>
          </a:p>
        </p:txBody>
      </p:sp>
      <p:sp>
        <p:nvSpPr>
          <p:cNvPr name="TextBox 60" id="60"/>
          <p:cNvSpPr txBox="true"/>
          <p:nvPr/>
        </p:nvSpPr>
        <p:spPr>
          <a:xfrm rot="0">
            <a:off x="12342306" y="3628068"/>
            <a:ext cx="1275797"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app.stream(stream_mode='updates') → one live step per node</a:t>
            </a:r>
          </a:p>
        </p:txBody>
      </p:sp>
      <p:sp>
        <p:nvSpPr>
          <p:cNvPr name="TextBox 61" id="61"/>
          <p:cNvSpPr txBox="true"/>
          <p:nvPr/>
        </p:nvSpPr>
        <p:spPr>
          <a:xfrm rot="0">
            <a:off x="12342306" y="4214530"/>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③</a:t>
            </a:r>
          </a:p>
        </p:txBody>
      </p:sp>
      <p:sp>
        <p:nvSpPr>
          <p:cNvPr name="TextBox 62" id="62"/>
          <p:cNvSpPr txBox="true"/>
          <p:nvPr/>
        </p:nvSpPr>
        <p:spPr>
          <a:xfrm rot="0">
            <a:off x="12448896" y="4230812"/>
            <a:ext cx="391265"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NPT chart</a:t>
            </a:r>
          </a:p>
        </p:txBody>
      </p:sp>
      <p:sp>
        <p:nvSpPr>
          <p:cNvPr name="TextBox 63" id="63"/>
          <p:cNvSpPr txBox="true"/>
          <p:nvPr/>
        </p:nvSpPr>
        <p:spPr>
          <a:xfrm rot="0">
            <a:off x="12342306" y="4325374"/>
            <a:ext cx="1311778"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24-hour timeline and NPT hours by category</a:t>
            </a:r>
          </a:p>
        </p:txBody>
      </p:sp>
      <p:sp>
        <p:nvSpPr>
          <p:cNvPr name="TextBox 64" id="64"/>
          <p:cNvSpPr txBox="true"/>
          <p:nvPr/>
        </p:nvSpPr>
        <p:spPr>
          <a:xfrm rot="0">
            <a:off x="12342306" y="5274435"/>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④</a:t>
            </a:r>
          </a:p>
        </p:txBody>
      </p:sp>
      <p:sp>
        <p:nvSpPr>
          <p:cNvPr name="TextBox 65" id="65"/>
          <p:cNvSpPr txBox="true"/>
          <p:nvPr/>
        </p:nvSpPr>
        <p:spPr>
          <a:xfrm rot="0">
            <a:off x="12448896" y="5290717"/>
            <a:ext cx="717283"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Insight report view</a:t>
            </a:r>
          </a:p>
        </p:txBody>
      </p:sp>
      <p:sp>
        <p:nvSpPr>
          <p:cNvPr name="TextBox 66" id="66"/>
          <p:cNvSpPr txBox="true"/>
          <p:nvPr/>
        </p:nvSpPr>
        <p:spPr>
          <a:xfrm rot="0">
            <a:off x="12342306" y="5385278"/>
            <a:ext cx="1481244"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NPT summary · root cause · plan vs actual suggested action · evidence lines</a:t>
            </a:r>
          </a:p>
        </p:txBody>
      </p:sp>
      <p:sp>
        <p:nvSpPr>
          <p:cNvPr name="TextBox 67" id="67"/>
          <p:cNvSpPr txBox="true"/>
          <p:nvPr/>
        </p:nvSpPr>
        <p:spPr>
          <a:xfrm rot="0">
            <a:off x="12513474" y="1445502"/>
            <a:ext cx="1642224" cy="378902"/>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Hosted LLM · Groq</a:t>
            </a:r>
            <a:r>
              <a:rPr lang="en-US" sz="603">
                <a:solidFill>
                  <a:srgbClr val="000000"/>
                </a:solidFill>
                <a:latin typeface="Liberation Sans"/>
                <a:ea typeface="Liberation Sans"/>
                <a:cs typeface="Liberation Sans"/>
                <a:sym typeface="Liberation Sans"/>
              </a:rPr>
              <a:t> (gpt-oss-20b)</a:t>
            </a:r>
          </a:p>
          <a:p>
            <a:pPr algn="ctr">
              <a:lnSpc>
                <a:spcPts val="727"/>
              </a:lnSpc>
            </a:pPr>
            <a:r>
              <a:rPr lang="en-US" sz="603">
                <a:solidFill>
                  <a:srgbClr val="000000"/>
                </a:solidFill>
                <a:latin typeface="Liberation Sans"/>
                <a:ea typeface="Liberation Sans"/>
                <a:cs typeface="Liberation Sans"/>
                <a:sym typeface="Liberation Sans"/>
              </a:rPr>
              <a:t>free API tier, no paid plan</a:t>
            </a:r>
          </a:p>
          <a:p>
            <a:pPr algn="ctr">
              <a:lnSpc>
                <a:spcPts val="727"/>
              </a:lnSpc>
            </a:pPr>
            <a:r>
              <a:rPr lang="en-US" sz="603">
                <a:solidFill>
                  <a:srgbClr val="000000"/>
                </a:solidFill>
                <a:latin typeface="Liberation Sans"/>
                <a:ea typeface="Liberation Sans"/>
                <a:cs typeface="Liberation Sans"/>
                <a:sym typeface="Liberation Sans"/>
              </a:rPr>
              <a:t>mock model fallback for the demo</a:t>
            </a:r>
          </a:p>
          <a:p>
            <a:pPr algn="ctr">
              <a:lnSpc>
                <a:spcPts val="727"/>
              </a:lnSpc>
            </a:pPr>
            <a:r>
              <a:rPr lang="en-US" sz="603">
                <a:solidFill>
                  <a:srgbClr val="666666"/>
                </a:solidFill>
                <a:latin typeface="Liberation Sans"/>
                <a:ea typeface="Liberation Sans"/>
                <a:cs typeface="Liberation Sans"/>
                <a:sym typeface="Liberation Sans"/>
              </a:rPr>
              <a:t>used by: classify_activities only</a:t>
            </a:r>
          </a:p>
        </p:txBody>
      </p:sp>
      <p:sp>
        <p:nvSpPr>
          <p:cNvPr name="TextBox 68" id="68"/>
          <p:cNvSpPr txBox="true"/>
          <p:nvPr/>
        </p:nvSpPr>
        <p:spPr>
          <a:xfrm rot="0">
            <a:off x="15112463" y="7223613"/>
            <a:ext cx="25220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Human</a:t>
            </a:r>
          </a:p>
        </p:txBody>
      </p:sp>
      <p:sp>
        <p:nvSpPr>
          <p:cNvPr name="TextBox 69" id="69"/>
          <p:cNvSpPr txBox="true"/>
          <p:nvPr/>
        </p:nvSpPr>
        <p:spPr>
          <a:xfrm rot="0">
            <a:off x="15135886" y="6972583"/>
            <a:ext cx="204457"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Agent</a:t>
            </a:r>
          </a:p>
        </p:txBody>
      </p:sp>
      <p:sp>
        <p:nvSpPr>
          <p:cNvPr name="TextBox 70" id="70"/>
          <p:cNvSpPr txBox="true"/>
          <p:nvPr/>
        </p:nvSpPr>
        <p:spPr>
          <a:xfrm rot="0">
            <a:off x="15964808" y="7223613"/>
            <a:ext cx="7823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UI</a:t>
            </a:r>
          </a:p>
        </p:txBody>
      </p:sp>
      <p:sp>
        <p:nvSpPr>
          <p:cNvPr name="TextBox 71" id="71"/>
          <p:cNvSpPr txBox="true"/>
          <p:nvPr/>
        </p:nvSpPr>
        <p:spPr>
          <a:xfrm rot="0">
            <a:off x="14866552" y="8033679"/>
            <a:ext cx="2330437" cy="1515593"/>
          </a:xfrm>
          <a:prstGeom prst="rect">
            <a:avLst/>
          </a:prstGeom>
        </p:spPr>
        <p:txBody>
          <a:bodyPr anchor="t" rtlCol="false" tIns="0" lIns="0" bIns="0" rIns="0">
            <a:spAutoFit/>
          </a:bodyPr>
          <a:lstStyle/>
          <a:p>
            <a:pPr algn="just">
              <a:lnSpc>
                <a:spcPts val="785"/>
              </a:lnSpc>
            </a:pPr>
            <a:r>
              <a:rPr lang="en-US" b="true" sz="603">
                <a:solidFill>
                  <a:srgbClr val="000000"/>
                </a:solidFill>
                <a:latin typeface="Liberation Sans Bold"/>
                <a:ea typeface="Liberation Sans Bold"/>
                <a:cs typeface="Liberation Sans Bold"/>
                <a:sym typeface="Liberation Sans Bold"/>
              </a:rPr>
              <a:t>How it maps to LangGraph code</a:t>
            </a:r>
          </a:p>
          <a:p>
            <a:pPr algn="just">
              <a:lnSpc>
                <a:spcPts val="750"/>
              </a:lnSpc>
            </a:pPr>
            <a:r>
              <a:rPr lang="en-US" sz="576" spc="64">
                <a:solidFill>
                  <a:srgbClr val="000000"/>
                </a:solidFill>
                <a:latin typeface="Montserrat"/>
                <a:ea typeface="Montserrat"/>
                <a:cs typeface="Montserrat"/>
                <a:sym typeface="Montserrat"/>
              </a:rPr>
              <a:t>g = StateGraph(DDRState)</a:t>
            </a:r>
          </a:p>
          <a:p>
            <a:pPr algn="just">
              <a:lnSpc>
                <a:spcPts val="750"/>
              </a:lnSpc>
            </a:pPr>
            <a:r>
              <a:rPr lang="en-US" sz="576" spc="64">
                <a:solidFill>
                  <a:srgbClr val="000000"/>
                </a:solidFill>
                <a:latin typeface="Montserrat"/>
                <a:ea typeface="Montserrat"/>
                <a:cs typeface="Montserrat"/>
                <a:sym typeface="Montserrat"/>
              </a:rPr>
              <a:t>g.add_node('ingest_report', ingest)  # + 7 more g.add_node('tools', ToolNode(tools)) g.add_edge(START, 'ingest_report') g.add_edge('ingest_report', 'orchestrator')</a:t>
            </a:r>
          </a:p>
          <a:p>
            <a:pPr algn="just">
              <a:lnSpc>
                <a:spcPts val="750"/>
              </a:lnSpc>
            </a:pPr>
            <a:r>
              <a:rPr lang="en-US" sz="576" spc="64">
                <a:solidFill>
                  <a:srgbClr val="000000"/>
                </a:solidFill>
                <a:latin typeface="Montserrat"/>
                <a:ea typeface="Montserrat"/>
                <a:cs typeface="Montserrat"/>
                <a:sym typeface="Montserrat"/>
              </a:rPr>
              <a:t>for a in ['planner', 'research', 'critic']:     g.add_edge(a, 'orchestrator') g.add_conditional_edges('orchestrator', route) g.add_conditional_edges('executor', tools_condition,     {'tools': 'tools', END: 'orchestrator'}) g.add_edge('tools', 'executor') g.add_edge('report_writer', 'human_review') g.add_conditional_edges('human_review', decide,     {'approve': END, 'reject': 'orchestrator'})</a:t>
            </a:r>
          </a:p>
          <a:p>
            <a:pPr algn="just">
              <a:lnSpc>
                <a:spcPts val="750"/>
              </a:lnSpc>
            </a:pPr>
            <a:r>
              <a:rPr lang="en-US" sz="576" spc="64">
                <a:solidFill>
                  <a:srgbClr val="000000"/>
                </a:solidFill>
                <a:latin typeface="Montserrat"/>
                <a:ea typeface="Montserrat"/>
                <a:cs typeface="Montserrat"/>
                <a:sym typeface="Montserrat"/>
              </a:rPr>
              <a:t>app = g.compile(checkpointer=SqliteSaver(conn))</a:t>
            </a:r>
          </a:p>
        </p:txBody>
      </p:sp>
      <p:sp>
        <p:nvSpPr>
          <p:cNvPr name="TextBox 72" id="72"/>
          <p:cNvSpPr txBox="true"/>
          <p:nvPr/>
        </p:nvSpPr>
        <p:spPr>
          <a:xfrm rot="0">
            <a:off x="15887993" y="6972583"/>
            <a:ext cx="234825"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Router</a:t>
            </a:r>
          </a:p>
        </p:txBody>
      </p:sp>
      <p:sp>
        <p:nvSpPr>
          <p:cNvPr name="TextBox 73" id="73"/>
          <p:cNvSpPr txBox="true"/>
          <p:nvPr/>
        </p:nvSpPr>
        <p:spPr>
          <a:xfrm rot="0">
            <a:off x="16588896" y="7223613"/>
            <a:ext cx="369760"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Plain node</a:t>
            </a:r>
          </a:p>
        </p:txBody>
      </p:sp>
      <p:sp>
        <p:nvSpPr>
          <p:cNvPr name="TextBox 74" id="74"/>
          <p:cNvSpPr txBox="true"/>
          <p:nvPr/>
        </p:nvSpPr>
        <p:spPr>
          <a:xfrm rot="0">
            <a:off x="16573967" y="6972583"/>
            <a:ext cx="40012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Tools / data</a:t>
            </a:r>
          </a:p>
        </p:txBody>
      </p:sp>
      <p:sp>
        <p:nvSpPr>
          <p:cNvPr name="TextBox 75" id="75"/>
          <p:cNvSpPr txBox="true"/>
          <p:nvPr/>
        </p:nvSpPr>
        <p:spPr>
          <a:xfrm rot="0">
            <a:off x="17398642" y="6972583"/>
            <a:ext cx="282541"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Memory</a:t>
            </a:r>
          </a:p>
        </p:txBody>
      </p:sp>
      <p:sp>
        <p:nvSpPr>
          <p:cNvPr name="TextBox 76" id="76"/>
          <p:cNvSpPr txBox="true"/>
          <p:nvPr/>
        </p:nvSpPr>
        <p:spPr>
          <a:xfrm rot="0">
            <a:off x="17396467" y="7223613"/>
            <a:ext cx="287011"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External</a:t>
            </a:r>
          </a:p>
        </p:txBody>
      </p:sp>
      <p:sp>
        <p:nvSpPr>
          <p:cNvPr name="TextBox 77" id="77"/>
          <p:cNvSpPr txBox="true"/>
          <p:nvPr/>
        </p:nvSpPr>
        <p:spPr>
          <a:xfrm rot="0">
            <a:off x="3164463" y="1626077"/>
            <a:ext cx="301320" cy="125954"/>
          </a:xfrm>
          <a:prstGeom prst="rect">
            <a:avLst/>
          </a:prstGeom>
        </p:spPr>
        <p:txBody>
          <a:bodyPr anchor="t" rtlCol="false" tIns="0" lIns="0" bIns="0" rIns="0">
            <a:spAutoFit/>
          </a:bodyPr>
          <a:lstStyle/>
          <a:p>
            <a:pPr algn="l">
              <a:lnSpc>
                <a:spcPts val="999"/>
              </a:lnSpc>
            </a:pPr>
            <a:r>
              <a:rPr lang="en-US" b="true" sz="713">
                <a:solidFill>
                  <a:srgbClr val="FFFFFF"/>
                </a:solidFill>
                <a:latin typeface="Liberation Sans Bold"/>
                <a:ea typeface="Liberation Sans Bold"/>
                <a:cs typeface="Liberation Sans Bold"/>
                <a:sym typeface="Liberation Sans Bold"/>
              </a:rPr>
              <a:t>START</a:t>
            </a:r>
          </a:p>
        </p:txBody>
      </p:sp>
      <p:sp>
        <p:nvSpPr>
          <p:cNvPr name="TextBox 78" id="78"/>
          <p:cNvSpPr txBox="true"/>
          <p:nvPr/>
        </p:nvSpPr>
        <p:spPr>
          <a:xfrm rot="0">
            <a:off x="8829742" y="7378847"/>
            <a:ext cx="195218" cy="125954"/>
          </a:xfrm>
          <a:prstGeom prst="rect">
            <a:avLst/>
          </a:prstGeom>
        </p:spPr>
        <p:txBody>
          <a:bodyPr anchor="t" rtlCol="false" tIns="0" lIns="0" bIns="0" rIns="0">
            <a:spAutoFit/>
          </a:bodyPr>
          <a:lstStyle/>
          <a:p>
            <a:pPr algn="l">
              <a:lnSpc>
                <a:spcPts val="999"/>
              </a:lnSpc>
            </a:pPr>
            <a:r>
              <a:rPr lang="en-US" b="true" sz="713">
                <a:solidFill>
                  <a:srgbClr val="FFFFFF"/>
                </a:solidFill>
                <a:latin typeface="Liberation Sans Bold"/>
                <a:ea typeface="Liberation Sans Bold"/>
                <a:cs typeface="Liberation Sans Bold"/>
                <a:sym typeface="Liberation Sans Bold"/>
              </a:rPr>
              <a:t>END</a:t>
            </a:r>
          </a:p>
        </p:txBody>
      </p:sp>
      <p:sp>
        <p:nvSpPr>
          <p:cNvPr name="TextBox 79" id="79"/>
          <p:cNvSpPr txBox="true"/>
          <p:nvPr/>
        </p:nvSpPr>
        <p:spPr>
          <a:xfrm rot="0">
            <a:off x="3262190" y="3629149"/>
            <a:ext cx="1239872"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Research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research_node </a:t>
            </a:r>
            <a:r>
              <a:rPr lang="en-US" sz="658">
                <a:solidFill>
                  <a:srgbClr val="000000"/>
                </a:solidFill>
                <a:latin typeface="Liberation Sans"/>
                <a:ea typeface="Liberation Sans"/>
                <a:cs typeface="Liberation Sans"/>
                <a:sym typeface="Liberation Sans"/>
              </a:rPr>
              <a:t>well plan · NPT codes · budget similar past incidents</a:t>
            </a:r>
          </a:p>
          <a:p>
            <a:pPr algn="ctr">
              <a:lnSpc>
                <a:spcPts val="782"/>
              </a:lnSpc>
            </a:pPr>
            <a:r>
              <a:rPr lang="en-US" sz="658">
                <a:solidFill>
                  <a:srgbClr val="666666"/>
                </a:solidFill>
                <a:latin typeface="Liberation Sans"/>
                <a:ea typeface="Liberation Sans"/>
                <a:cs typeface="Liberation Sans"/>
                <a:sym typeface="Liberation Sans"/>
              </a:rPr>
              <a:t>[Python lookups]</a:t>
            </a:r>
          </a:p>
        </p:txBody>
      </p:sp>
      <p:sp>
        <p:nvSpPr>
          <p:cNvPr name="TextBox 80" id="80"/>
          <p:cNvSpPr txBox="true"/>
          <p:nvPr/>
        </p:nvSpPr>
        <p:spPr>
          <a:xfrm rot="0">
            <a:off x="4512438" y="1526864"/>
            <a:ext cx="1036621" cy="313822"/>
          </a:xfrm>
          <a:prstGeom prst="rect">
            <a:avLst/>
          </a:prstGeom>
        </p:spPr>
        <p:txBody>
          <a:bodyPr anchor="t" rtlCol="false" tIns="0" lIns="0" bIns="0" rIns="0">
            <a:spAutoFit/>
          </a:bodyPr>
          <a:lstStyle/>
          <a:p>
            <a:pPr algn="ctr">
              <a:lnSpc>
                <a:spcPts val="805"/>
              </a:lnSpc>
            </a:pPr>
            <a:r>
              <a:rPr lang="en-US" b="true" sz="658">
                <a:solidFill>
                  <a:srgbClr val="000000"/>
                </a:solidFill>
                <a:latin typeface="Liberation Sans Bold"/>
                <a:ea typeface="Liberation Sans Bold"/>
                <a:cs typeface="Liberation Sans Bold"/>
                <a:sym typeface="Liberation Sans Bold"/>
              </a:rPr>
              <a:t>ingest_report</a:t>
            </a:r>
          </a:p>
          <a:p>
            <a:pPr algn="ctr">
              <a:lnSpc>
                <a:spcPts val="805"/>
              </a:lnSpc>
            </a:pPr>
            <a:r>
              <a:rPr lang="en-US" sz="658">
                <a:solidFill>
                  <a:srgbClr val="000000"/>
                </a:solidFill>
                <a:latin typeface="Liberation Sans"/>
                <a:ea typeface="Liberation Sans"/>
                <a:cs typeface="Liberation Sans"/>
                <a:sym typeface="Liberation Sans"/>
              </a:rPr>
              <a:t>split header + time log lines </a:t>
            </a:r>
            <a:r>
              <a:rPr lang="en-US" sz="658">
                <a:solidFill>
                  <a:srgbClr val="666666"/>
                </a:solidFill>
                <a:latin typeface="Liberation Sans"/>
                <a:ea typeface="Liberation Sans"/>
                <a:cs typeface="Liberation Sans"/>
                <a:sym typeface="Liberation Sans"/>
              </a:rPr>
              <a:t>[Python]</a:t>
            </a:r>
          </a:p>
        </p:txBody>
      </p:sp>
      <p:sp>
        <p:nvSpPr>
          <p:cNvPr name="TextBox 81" id="81"/>
          <p:cNvSpPr txBox="true"/>
          <p:nvPr/>
        </p:nvSpPr>
        <p:spPr>
          <a:xfrm rot="0">
            <a:off x="5487361" y="5232952"/>
            <a:ext cx="1323639"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Critic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critic_node</a:t>
            </a:r>
          </a:p>
          <a:p>
            <a:pPr algn="ctr">
              <a:lnSpc>
                <a:spcPts val="782"/>
              </a:lnSpc>
            </a:pPr>
            <a:r>
              <a:rPr lang="en-US" sz="658">
                <a:solidFill>
                  <a:srgbClr val="000000"/>
                </a:solidFill>
                <a:latin typeface="Liberation Sans"/>
                <a:ea typeface="Liberation Sans"/>
                <a:cs typeface="Liberation Sans"/>
                <a:sym typeface="Liberation Sans"/>
              </a:rPr>
              <a:t>checks totals, categories, evidence → PASS or FAIL + feedback </a:t>
            </a:r>
            <a:r>
              <a:rPr lang="en-US" sz="658">
                <a:solidFill>
                  <a:srgbClr val="666666"/>
                </a:solidFill>
                <a:latin typeface="Liberation Sans"/>
                <a:ea typeface="Liberation Sans"/>
                <a:cs typeface="Liberation Sans"/>
                <a:sym typeface="Liberation Sans"/>
              </a:rPr>
              <a:t>[Python checks]</a:t>
            </a:r>
          </a:p>
        </p:txBody>
      </p:sp>
      <p:sp>
        <p:nvSpPr>
          <p:cNvPr name="TextBox 82" id="82"/>
          <p:cNvSpPr txBox="true"/>
          <p:nvPr/>
        </p:nvSpPr>
        <p:spPr>
          <a:xfrm rot="0">
            <a:off x="5759415" y="3635279"/>
            <a:ext cx="1195572" cy="401920"/>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Orchestrator</a:t>
            </a:r>
          </a:p>
          <a:p>
            <a:pPr algn="ctr">
              <a:lnSpc>
                <a:spcPts val="782"/>
              </a:lnSpc>
            </a:pPr>
            <a:r>
              <a:rPr lang="en-US" sz="658">
                <a:solidFill>
                  <a:srgbClr val="000000"/>
                </a:solidFill>
                <a:latin typeface="Liberation Sans"/>
                <a:ea typeface="Liberation Sans"/>
                <a:cs typeface="Liberation Sans"/>
                <a:sym typeface="Liberation Sans"/>
              </a:rPr>
              <a:t>(Supervisor / Router) </a:t>
            </a:r>
            <a:r>
              <a:rPr lang="en-US" sz="658" i="true">
                <a:solidFill>
                  <a:srgbClr val="000000"/>
                </a:solidFill>
                <a:latin typeface="Liberation Sans Italics"/>
                <a:ea typeface="Liberation Sans Italics"/>
                <a:cs typeface="Liberation Sans Italics"/>
                <a:sym typeface="Liberation Sans Italics"/>
              </a:rPr>
              <a:t>route(state)</a:t>
            </a:r>
            <a:r>
              <a:rPr lang="en-US" sz="658">
                <a:solidFill>
                  <a:srgbClr val="000000"/>
                </a:solidFill>
                <a:latin typeface="Liberation Sans"/>
                <a:ea typeface="Liberation Sans"/>
                <a:cs typeface="Liberation Sans"/>
                <a:sym typeface="Liberation Sans"/>
              </a:rPr>
              <a:t> picks the next node </a:t>
            </a:r>
            <a:r>
              <a:rPr lang="en-US" sz="658">
                <a:solidFill>
                  <a:srgbClr val="666666"/>
                </a:solidFill>
                <a:latin typeface="Liberation Sans"/>
                <a:ea typeface="Liberation Sans"/>
                <a:cs typeface="Liberation Sans"/>
                <a:sym typeface="Liberation Sans"/>
              </a:rPr>
              <a:t>[pure Python, no LLM]</a:t>
            </a:r>
          </a:p>
        </p:txBody>
      </p:sp>
      <p:sp>
        <p:nvSpPr>
          <p:cNvPr name="TextBox 83" id="83"/>
          <p:cNvSpPr txBox="true"/>
          <p:nvPr/>
        </p:nvSpPr>
        <p:spPr>
          <a:xfrm rot="0">
            <a:off x="5508497" y="2255458"/>
            <a:ext cx="1707422"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Planner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planner_node</a:t>
            </a:r>
          </a:p>
          <a:p>
            <a:pPr algn="ctr">
              <a:lnSpc>
                <a:spcPts val="782"/>
              </a:lnSpc>
            </a:pPr>
            <a:r>
              <a:rPr lang="en-US" sz="658">
                <a:solidFill>
                  <a:srgbClr val="000000"/>
                </a:solidFill>
                <a:latin typeface="Liberation Sans"/>
                <a:ea typeface="Liberation Sans"/>
                <a:cs typeface="Liberation Sans"/>
                <a:sym typeface="Liberation Sans"/>
              </a:rPr>
              <a:t>report → task_plan (fits the report)</a:t>
            </a:r>
          </a:p>
          <a:p>
            <a:pPr algn="ctr">
              <a:lnSpc>
                <a:spcPts val="782"/>
              </a:lnSpc>
            </a:pPr>
            <a:r>
              <a:rPr lang="en-US" sz="658">
                <a:solidFill>
                  <a:srgbClr val="000000"/>
                </a:solidFill>
                <a:latin typeface="Liberation Sans"/>
                <a:ea typeface="Liberation Sans"/>
                <a:cs typeface="Liberation Sans"/>
                <a:sym typeface="Liberation Sans"/>
              </a:rPr>
              <a:t>parse · classify · total · compare · summarise </a:t>
            </a:r>
            <a:r>
              <a:rPr lang="en-US" sz="658">
                <a:solidFill>
                  <a:srgbClr val="666666"/>
                </a:solidFill>
                <a:latin typeface="Liberation Sans"/>
                <a:ea typeface="Liberation Sans"/>
                <a:cs typeface="Liberation Sans"/>
                <a:sym typeface="Liberation Sans"/>
              </a:rPr>
              <a:t>[rules]</a:t>
            </a:r>
          </a:p>
        </p:txBody>
      </p:sp>
      <p:sp>
        <p:nvSpPr>
          <p:cNvPr name="TextBox 84" id="84"/>
          <p:cNvSpPr txBox="true"/>
          <p:nvPr/>
        </p:nvSpPr>
        <p:spPr>
          <a:xfrm rot="0">
            <a:off x="8353391" y="5239081"/>
            <a:ext cx="1166982" cy="401920"/>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report_writer</a:t>
            </a:r>
          </a:p>
          <a:p>
            <a:pPr algn="ctr">
              <a:lnSpc>
                <a:spcPts val="782"/>
              </a:lnSpc>
            </a:pPr>
            <a:r>
              <a:rPr lang="en-US" sz="658">
                <a:solidFill>
                  <a:srgbClr val="000000"/>
                </a:solidFill>
                <a:latin typeface="Liberation Sans"/>
                <a:ea typeface="Liberation Sans"/>
                <a:cs typeface="Liberation Sans"/>
                <a:sym typeface="Liberation Sans"/>
              </a:rPr>
              <a:t>Daily Insight Report draft</a:t>
            </a:r>
          </a:p>
          <a:p>
            <a:pPr algn="ctr">
              <a:lnSpc>
                <a:spcPts val="782"/>
              </a:lnSpc>
            </a:pPr>
            <a:r>
              <a:rPr lang="en-US" sz="658">
                <a:solidFill>
                  <a:srgbClr val="000000"/>
                </a:solidFill>
                <a:latin typeface="Liberation Sans"/>
                <a:ea typeface="Liberation Sans"/>
                <a:cs typeface="Liberation Sans"/>
                <a:sym typeface="Liberation Sans"/>
              </a:rPr>
              <a:t>from computed facts only</a:t>
            </a:r>
          </a:p>
          <a:p>
            <a:pPr algn="ctr">
              <a:lnSpc>
                <a:spcPts val="782"/>
              </a:lnSpc>
            </a:pPr>
            <a:r>
              <a:rPr lang="en-US" sz="658">
                <a:solidFill>
                  <a:srgbClr val="666666"/>
                </a:solidFill>
                <a:latin typeface="Liberation Sans"/>
                <a:ea typeface="Liberation Sans"/>
                <a:cs typeface="Liberation Sans"/>
                <a:sym typeface="Liberation Sans"/>
              </a:rPr>
              <a:t>[template, adds no numbers]</a:t>
            </a:r>
          </a:p>
        </p:txBody>
      </p:sp>
      <p:sp>
        <p:nvSpPr>
          <p:cNvPr name="TextBox 85" id="85"/>
          <p:cNvSpPr txBox="true"/>
          <p:nvPr/>
        </p:nvSpPr>
        <p:spPr>
          <a:xfrm rot="0">
            <a:off x="8292161" y="3586467"/>
            <a:ext cx="1291919" cy="499542"/>
          </a:xfrm>
          <a:prstGeom prst="rect">
            <a:avLst/>
          </a:prstGeom>
        </p:spPr>
        <p:txBody>
          <a:bodyPr anchor="t" rtlCol="false" tIns="0" lIns="0" bIns="0" rIns="0">
            <a:spAutoFit/>
          </a:bodyPr>
          <a:lstStyle/>
          <a:p>
            <a:pPr algn="ctr">
              <a:lnSpc>
                <a:spcPts val="779"/>
              </a:lnSpc>
            </a:pPr>
            <a:r>
              <a:rPr lang="en-US" b="true" sz="658">
                <a:solidFill>
                  <a:srgbClr val="000000"/>
                </a:solidFill>
                <a:latin typeface="Liberation Sans Bold"/>
                <a:ea typeface="Liberation Sans Bold"/>
                <a:cs typeface="Liberation Sans Bold"/>
                <a:sym typeface="Liberation Sans Bold"/>
              </a:rPr>
              <a:t>Executor Agent</a:t>
            </a:r>
          </a:p>
          <a:p>
            <a:pPr algn="ctr">
              <a:lnSpc>
                <a:spcPts val="779"/>
              </a:lnSpc>
            </a:pPr>
            <a:r>
              <a:rPr lang="en-US" sz="658">
                <a:solidFill>
                  <a:srgbClr val="666666"/>
                </a:solidFill>
                <a:latin typeface="Liberation Sans"/>
                <a:ea typeface="Liberation Sans"/>
                <a:cs typeface="Liberation Sans"/>
                <a:sym typeface="Liberation Sans"/>
              </a:rPr>
              <a:t>executor_node</a:t>
            </a:r>
          </a:p>
          <a:p>
            <a:pPr algn="ctr">
              <a:lnSpc>
                <a:spcPts val="779"/>
              </a:lnSpc>
            </a:pPr>
            <a:r>
              <a:rPr lang="en-US" sz="658">
                <a:solidFill>
                  <a:srgbClr val="000000"/>
                </a:solidFill>
                <a:latin typeface="Liberation Sans"/>
                <a:ea typeface="Liberation Sans"/>
                <a:cs typeface="Liberation Sans"/>
                <a:sym typeface="Liberation Sans"/>
              </a:rPr>
              <a:t>labels every log line, totals</a:t>
            </a:r>
          </a:p>
          <a:p>
            <a:pPr algn="ctr">
              <a:lnSpc>
                <a:spcPts val="779"/>
              </a:lnSpc>
            </a:pPr>
            <a:r>
              <a:rPr lang="en-US" sz="658">
                <a:solidFill>
                  <a:srgbClr val="000000"/>
                </a:solidFill>
                <a:latin typeface="Liberation Sans"/>
                <a:ea typeface="Liberation Sans"/>
                <a:cs typeface="Liberation Sans"/>
                <a:sym typeface="Liberation Sans"/>
              </a:rPr>
              <a:t>NPT hrs, ROP, depth vs plan, cost </a:t>
            </a:r>
            <a:r>
              <a:rPr lang="en-US" sz="658">
                <a:solidFill>
                  <a:srgbClr val="666666"/>
                </a:solidFill>
                <a:latin typeface="Liberation Sans"/>
                <a:ea typeface="Liberation Sans"/>
                <a:cs typeface="Liberation Sans"/>
                <a:sym typeface="Liberation Sans"/>
              </a:rPr>
              <a:t>[tools + LLM classify]</a:t>
            </a:r>
          </a:p>
        </p:txBody>
      </p:sp>
      <p:sp>
        <p:nvSpPr>
          <p:cNvPr name="TextBox 86" id="86"/>
          <p:cNvSpPr txBox="true"/>
          <p:nvPr/>
        </p:nvSpPr>
        <p:spPr>
          <a:xfrm rot="0">
            <a:off x="8247708" y="6348640"/>
            <a:ext cx="1382673"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human_review</a:t>
            </a:r>
            <a:r>
              <a:rPr lang="en-US" sz="658">
                <a:solidFill>
                  <a:srgbClr val="000000"/>
                </a:solidFill>
                <a:latin typeface="Liberation Sans"/>
                <a:ea typeface="Liberation Sans"/>
                <a:cs typeface="Liberation Sans"/>
                <a:sym typeface="Liberation Sans"/>
              </a:rPr>
              <a:t> (pause)</a:t>
            </a:r>
          </a:p>
          <a:p>
            <a:pPr algn="ctr">
              <a:lnSpc>
                <a:spcPts val="782"/>
              </a:lnSpc>
            </a:pPr>
            <a:r>
              <a:rPr lang="en-US" sz="658">
                <a:solidFill>
                  <a:srgbClr val="000000"/>
                </a:solidFill>
                <a:latin typeface="Liberation Sans"/>
                <a:ea typeface="Liberation Sans"/>
                <a:cs typeface="Liberation Sans"/>
                <a:sym typeface="Liberation Sans"/>
              </a:rPr>
              <a:t>Drilling engineer approval</a:t>
            </a:r>
          </a:p>
          <a:p>
            <a:pPr algn="ctr">
              <a:lnSpc>
                <a:spcPts val="782"/>
              </a:lnSpc>
            </a:pPr>
            <a:r>
              <a:rPr lang="en-US" sz="658" i="true">
                <a:solidFill>
                  <a:srgbClr val="000000"/>
                </a:solidFill>
                <a:latin typeface="Liberation Sans Italics"/>
                <a:ea typeface="Liberation Sans Italics"/>
                <a:cs typeface="Liberation Sans Italics"/>
                <a:sym typeface="Liberation Sans Italics"/>
              </a:rPr>
              <a:t>interrupt()</a:t>
            </a:r>
            <a:r>
              <a:rPr lang="en-US" sz="658">
                <a:solidFill>
                  <a:srgbClr val="000000"/>
                </a:solidFill>
                <a:latin typeface="Liberation Sans"/>
                <a:ea typeface="Liberation Sans"/>
                <a:cs typeface="Liberation Sans"/>
                <a:sym typeface="Liberation Sans"/>
              </a:rPr>
              <a:t> pauses the graph resumes with </a:t>
            </a:r>
            <a:r>
              <a:rPr lang="en-US" sz="658" i="true">
                <a:solidFill>
                  <a:srgbClr val="000000"/>
                </a:solidFill>
                <a:latin typeface="Liberation Sans Italics"/>
                <a:ea typeface="Liberation Sans Italics"/>
                <a:cs typeface="Liberation Sans Italics"/>
                <a:sym typeface="Liberation Sans Italics"/>
              </a:rPr>
              <a:t>Command(resume=...)</a:t>
            </a:r>
          </a:p>
        </p:txBody>
      </p:sp>
      <p:sp>
        <p:nvSpPr>
          <p:cNvPr name="TextBox 87" id="87"/>
          <p:cNvSpPr txBox="true"/>
          <p:nvPr/>
        </p:nvSpPr>
        <p:spPr>
          <a:xfrm rot="0">
            <a:off x="14901417" y="6754103"/>
            <a:ext cx="545356" cy="127258"/>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Node colours</a:t>
            </a:r>
          </a:p>
        </p:txBody>
      </p:sp>
      <p:sp>
        <p:nvSpPr>
          <p:cNvPr name="TextBox 88" id="88"/>
          <p:cNvSpPr txBox="true"/>
          <p:nvPr/>
        </p:nvSpPr>
        <p:spPr>
          <a:xfrm rot="0">
            <a:off x="14901417" y="5255740"/>
            <a:ext cx="1233352"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Review</a:t>
            </a:r>
            <a:r>
              <a:rPr lang="en-US" sz="658">
                <a:solidFill>
                  <a:srgbClr val="000000"/>
                </a:solidFill>
                <a:latin typeface="Liberation Sans"/>
                <a:ea typeface="Liberation Sans"/>
                <a:cs typeface="Liberation Sans"/>
                <a:sym typeface="Liberation Sans"/>
              </a:rPr>
              <a:t>: results sent to the Critic</a:t>
            </a:r>
          </a:p>
        </p:txBody>
      </p:sp>
      <p:sp>
        <p:nvSpPr>
          <p:cNvPr name="TextBox 89" id="89"/>
          <p:cNvSpPr txBox="true"/>
          <p:nvPr/>
        </p:nvSpPr>
        <p:spPr>
          <a:xfrm rot="0">
            <a:off x="14901417" y="6092507"/>
            <a:ext cx="1266683"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Final</a:t>
            </a:r>
            <a:r>
              <a:rPr lang="en-US" sz="658">
                <a:solidFill>
                  <a:srgbClr val="000000"/>
                </a:solidFill>
                <a:latin typeface="Liberation Sans"/>
                <a:ea typeface="Liberation Sans"/>
                <a:cs typeface="Liberation Sans"/>
                <a:sym typeface="Liberation Sans"/>
              </a:rPr>
              <a:t>: towards approval and END</a:t>
            </a:r>
          </a:p>
        </p:txBody>
      </p:sp>
      <p:sp>
        <p:nvSpPr>
          <p:cNvPr name="TextBox 90" id="90"/>
          <p:cNvSpPr txBox="true"/>
          <p:nvPr/>
        </p:nvSpPr>
        <p:spPr>
          <a:xfrm rot="0">
            <a:off x="14901417" y="6371429"/>
            <a:ext cx="1271320"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System I/O</a:t>
            </a:r>
            <a:r>
              <a:rPr lang="en-US" sz="658">
                <a:solidFill>
                  <a:srgbClr val="000000"/>
                </a:solidFill>
                <a:latin typeface="Liberation Sans"/>
                <a:ea typeface="Liberation Sans"/>
                <a:cs typeface="Liberation Sans"/>
                <a:sym typeface="Liberation Sans"/>
              </a:rPr>
              <a:t>: UI, files, checkpoints</a:t>
            </a:r>
          </a:p>
        </p:txBody>
      </p:sp>
      <p:sp>
        <p:nvSpPr>
          <p:cNvPr name="TextBox 91" id="91"/>
          <p:cNvSpPr txBox="true"/>
          <p:nvPr/>
        </p:nvSpPr>
        <p:spPr>
          <a:xfrm rot="0">
            <a:off x="14901417" y="5813584"/>
            <a:ext cx="1317203"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Tool / data call</a:t>
            </a:r>
            <a:r>
              <a:rPr lang="en-US" sz="658">
                <a:solidFill>
                  <a:srgbClr val="000000"/>
                </a:solidFill>
                <a:latin typeface="Liberation Sans"/>
                <a:ea typeface="Liberation Sans"/>
                <a:cs typeface="Liberation Sans"/>
                <a:sym typeface="Liberation Sans"/>
              </a:rPr>
              <a:t>: request and result</a:t>
            </a:r>
          </a:p>
        </p:txBody>
      </p:sp>
      <p:sp>
        <p:nvSpPr>
          <p:cNvPr name="TextBox 92" id="92"/>
          <p:cNvSpPr txBox="true"/>
          <p:nvPr/>
        </p:nvSpPr>
        <p:spPr>
          <a:xfrm rot="0">
            <a:off x="14901417" y="4697896"/>
            <a:ext cx="1423284"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Normal</a:t>
            </a:r>
            <a:r>
              <a:rPr lang="en-US" sz="658">
                <a:solidFill>
                  <a:srgbClr val="000000"/>
                </a:solidFill>
                <a:latin typeface="Liberation Sans"/>
                <a:ea typeface="Liberation Sans"/>
                <a:cs typeface="Liberation Sans"/>
                <a:sym typeface="Liberation Sans"/>
              </a:rPr>
              <a:t>: fixed add_edge, always runs</a:t>
            </a:r>
          </a:p>
        </p:txBody>
      </p:sp>
      <p:sp>
        <p:nvSpPr>
          <p:cNvPr name="TextBox 93" id="93"/>
          <p:cNvSpPr txBox="true"/>
          <p:nvPr/>
        </p:nvSpPr>
        <p:spPr>
          <a:xfrm rot="0">
            <a:off x="14901417" y="5534662"/>
            <a:ext cx="1593789"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Learning / retry</a:t>
            </a:r>
            <a:r>
              <a:rPr lang="en-US" sz="658">
                <a:solidFill>
                  <a:srgbClr val="000000"/>
                </a:solidFill>
                <a:latin typeface="Liberation Sans"/>
                <a:ea typeface="Liberation Sans"/>
                <a:cs typeface="Liberation Sans"/>
                <a:sym typeface="Liberation Sans"/>
              </a:rPr>
              <a:t>: FAIL, feedback, memory</a:t>
            </a:r>
          </a:p>
        </p:txBody>
      </p:sp>
      <p:sp>
        <p:nvSpPr>
          <p:cNvPr name="TextBox 94" id="94"/>
          <p:cNvSpPr txBox="true"/>
          <p:nvPr/>
        </p:nvSpPr>
        <p:spPr>
          <a:xfrm rot="0">
            <a:off x="14880498" y="1308991"/>
            <a:ext cx="1670081" cy="127258"/>
          </a:xfrm>
          <a:prstGeom prst="rect">
            <a:avLst/>
          </a:prstGeom>
        </p:spPr>
        <p:txBody>
          <a:bodyPr anchor="t" rtlCol="false" tIns="0" lIns="0" bIns="0" rIns="0">
            <a:spAutoFit/>
          </a:bodyPr>
          <a:lstStyle/>
          <a:p>
            <a:pPr algn="l">
              <a:lnSpc>
                <a:spcPts val="922"/>
              </a:lnSpc>
            </a:pPr>
            <a:r>
              <a:rPr lang="en-US" sz="658" i="true">
                <a:solidFill>
                  <a:srgbClr val="000000"/>
                </a:solidFill>
                <a:latin typeface="Liberation Sans Italics"/>
                <a:ea typeface="Liberation Sans Italics"/>
                <a:cs typeface="Liberation Sans Italics"/>
                <a:sym typeface="Liberation Sans Italics"/>
              </a:rPr>
              <a:t>every</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node</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reads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it</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and</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returns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updates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to</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it</a:t>
            </a:r>
          </a:p>
        </p:txBody>
      </p:sp>
      <p:sp>
        <p:nvSpPr>
          <p:cNvPr name="TextBox 95" id="95"/>
          <p:cNvSpPr txBox="true"/>
          <p:nvPr/>
        </p:nvSpPr>
        <p:spPr>
          <a:xfrm rot="0">
            <a:off x="14901417" y="4976818"/>
            <a:ext cx="1778854"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Conditional</a:t>
            </a:r>
            <a:r>
              <a:rPr lang="en-US" sz="658">
                <a:solidFill>
                  <a:srgbClr val="000000"/>
                </a:solidFill>
                <a:latin typeface="Liberation Sans"/>
                <a:ea typeface="Liberation Sans"/>
                <a:cs typeface="Liberation Sans"/>
                <a:sym typeface="Liberation Sans"/>
              </a:rPr>
              <a:t>: route() or tools_condition decides</a:t>
            </a:r>
          </a:p>
        </p:txBody>
      </p:sp>
      <p:sp>
        <p:nvSpPr>
          <p:cNvPr name="TextBox 96" id="96"/>
          <p:cNvSpPr txBox="true"/>
          <p:nvPr/>
        </p:nvSpPr>
        <p:spPr>
          <a:xfrm rot="0">
            <a:off x="4467001" y="2570089"/>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②</a:t>
            </a:r>
          </a:p>
        </p:txBody>
      </p:sp>
      <p:sp>
        <p:nvSpPr>
          <p:cNvPr name="TextBox 97" id="97"/>
          <p:cNvSpPr txBox="true"/>
          <p:nvPr/>
        </p:nvSpPr>
        <p:spPr>
          <a:xfrm rot="0">
            <a:off x="4803235" y="354631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⑤</a:t>
            </a:r>
          </a:p>
        </p:txBody>
      </p:sp>
      <p:sp>
        <p:nvSpPr>
          <p:cNvPr name="TextBox 98" id="98"/>
          <p:cNvSpPr txBox="true"/>
          <p:nvPr/>
        </p:nvSpPr>
        <p:spPr>
          <a:xfrm rot="0">
            <a:off x="4892253" y="3978646"/>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⑥</a:t>
            </a:r>
          </a:p>
        </p:txBody>
      </p:sp>
      <p:sp>
        <p:nvSpPr>
          <p:cNvPr name="TextBox 99" id="99"/>
          <p:cNvSpPr txBox="true"/>
          <p:nvPr/>
        </p:nvSpPr>
        <p:spPr>
          <a:xfrm rot="0">
            <a:off x="5314451" y="304425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③</a:t>
            </a:r>
          </a:p>
        </p:txBody>
      </p:sp>
      <p:sp>
        <p:nvSpPr>
          <p:cNvPr name="TextBox 100" id="100"/>
          <p:cNvSpPr txBox="true"/>
          <p:nvPr/>
        </p:nvSpPr>
        <p:spPr>
          <a:xfrm rot="0">
            <a:off x="6761359" y="973259"/>
            <a:ext cx="108724" cy="99414"/>
          </a:xfrm>
          <a:prstGeom prst="rect">
            <a:avLst/>
          </a:prstGeom>
        </p:spPr>
        <p:txBody>
          <a:bodyPr anchor="t" rtlCol="false" tIns="0" lIns="0" bIns="0" rIns="0">
            <a:spAutoFit/>
          </a:bodyPr>
          <a:lstStyle/>
          <a:p>
            <a:pPr algn="l">
              <a:lnSpc>
                <a:spcPts val="845"/>
              </a:lnSpc>
            </a:pPr>
            <a:r>
              <a:rPr lang="en-US" sz="603">
                <a:solidFill>
                  <a:srgbClr val="9A6A00"/>
                </a:solidFill>
                <a:latin typeface="Inter"/>
                <a:ea typeface="Inter"/>
                <a:cs typeface="Inter"/>
                <a:sym typeface="Inter"/>
              </a:rPr>
              <a:t>①</a:t>
            </a:r>
          </a:p>
        </p:txBody>
      </p:sp>
      <p:sp>
        <p:nvSpPr>
          <p:cNvPr name="TextBox 101" id="101"/>
          <p:cNvSpPr txBox="true"/>
          <p:nvPr/>
        </p:nvSpPr>
        <p:spPr>
          <a:xfrm rot="0">
            <a:off x="6790228" y="2932688"/>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④</a:t>
            </a:r>
          </a:p>
        </p:txBody>
      </p:sp>
      <p:sp>
        <p:nvSpPr>
          <p:cNvPr name="TextBox 102" id="102"/>
          <p:cNvSpPr txBox="true"/>
          <p:nvPr/>
        </p:nvSpPr>
        <p:spPr>
          <a:xfrm rot="0">
            <a:off x="7393620" y="354631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⑦</a:t>
            </a:r>
          </a:p>
        </p:txBody>
      </p:sp>
      <p:sp>
        <p:nvSpPr>
          <p:cNvPr name="TextBox 103" id="103"/>
          <p:cNvSpPr txBox="true"/>
          <p:nvPr/>
        </p:nvSpPr>
        <p:spPr>
          <a:xfrm rot="0">
            <a:off x="7503878" y="3978646"/>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⑨</a:t>
            </a:r>
          </a:p>
        </p:txBody>
      </p:sp>
      <p:sp>
        <p:nvSpPr>
          <p:cNvPr name="TextBox 104" id="104"/>
          <p:cNvSpPr txBox="true"/>
          <p:nvPr/>
        </p:nvSpPr>
        <p:spPr>
          <a:xfrm rot="0">
            <a:off x="9855757" y="3553290"/>
            <a:ext cx="108724" cy="99414"/>
          </a:xfrm>
          <a:prstGeom prst="rect">
            <a:avLst/>
          </a:prstGeom>
        </p:spPr>
        <p:txBody>
          <a:bodyPr anchor="t" rtlCol="false" tIns="0" lIns="0" bIns="0" rIns="0">
            <a:spAutoFit/>
          </a:bodyPr>
          <a:lstStyle/>
          <a:p>
            <a:pPr algn="l">
              <a:lnSpc>
                <a:spcPts val="845"/>
              </a:lnSpc>
            </a:pPr>
            <a:r>
              <a:rPr lang="en-US" sz="603">
                <a:solidFill>
                  <a:srgbClr val="6F4E7C"/>
                </a:solidFill>
                <a:latin typeface="Inter"/>
                <a:ea typeface="Inter"/>
                <a:cs typeface="Inter"/>
                <a:sym typeface="Inter"/>
              </a:rPr>
              <a:t>⑧</a:t>
            </a:r>
          </a:p>
        </p:txBody>
      </p:sp>
      <p:sp>
        <p:nvSpPr>
          <p:cNvPr name="TextBox 105" id="105"/>
          <p:cNvSpPr txBox="true"/>
          <p:nvPr/>
        </p:nvSpPr>
        <p:spPr>
          <a:xfrm rot="0">
            <a:off x="5382870" y="4430444"/>
            <a:ext cx="70142" cy="110404"/>
          </a:xfrm>
          <a:prstGeom prst="rect">
            <a:avLst/>
          </a:prstGeom>
        </p:spPr>
        <p:txBody>
          <a:bodyPr anchor="t" rtlCol="false" tIns="0" lIns="0" bIns="0" rIns="0">
            <a:spAutoFit/>
          </a:bodyPr>
          <a:lstStyle/>
          <a:p>
            <a:pPr algn="l">
              <a:lnSpc>
                <a:spcPts val="845"/>
              </a:lnSpc>
            </a:pPr>
            <a:r>
              <a:rPr lang="en-US" sz="603">
                <a:solidFill>
                  <a:srgbClr val="0E7AB0"/>
                </a:solidFill>
                <a:latin typeface="DejaVu Sans Light"/>
                <a:ea typeface="DejaVu Sans Light"/>
                <a:cs typeface="DejaVu Sans Light"/>
                <a:sym typeface="DejaVu Sans Light"/>
              </a:rPr>
              <a:t>⑩</a:t>
            </a:r>
          </a:p>
        </p:txBody>
      </p:sp>
      <p:sp>
        <p:nvSpPr>
          <p:cNvPr name="TextBox 106" id="106"/>
          <p:cNvSpPr txBox="true"/>
          <p:nvPr/>
        </p:nvSpPr>
        <p:spPr>
          <a:xfrm rot="0">
            <a:off x="6298523" y="4740857"/>
            <a:ext cx="78238" cy="112238"/>
          </a:xfrm>
          <a:prstGeom prst="rect">
            <a:avLst/>
          </a:prstGeom>
        </p:spPr>
        <p:txBody>
          <a:bodyPr anchor="t" rtlCol="false" tIns="0" lIns="0" bIns="0" rIns="0">
            <a:spAutoFit/>
          </a:bodyPr>
          <a:lstStyle/>
          <a:p>
            <a:pPr algn="l">
              <a:lnSpc>
                <a:spcPts val="845"/>
              </a:lnSpc>
            </a:pPr>
            <a:r>
              <a:rPr lang="en-US" sz="603">
                <a:solidFill>
                  <a:srgbClr val="222222"/>
                </a:solidFill>
                <a:latin typeface="WenQuanYi"/>
                <a:ea typeface="WenQuanYi"/>
                <a:cs typeface="WenQuanYi"/>
                <a:sym typeface="WenQuanYi"/>
              </a:rPr>
              <a:t>⑪</a:t>
            </a:r>
          </a:p>
        </p:txBody>
      </p:sp>
      <p:sp>
        <p:nvSpPr>
          <p:cNvPr name="TextBox 107" id="107"/>
          <p:cNvSpPr txBox="true"/>
          <p:nvPr/>
        </p:nvSpPr>
        <p:spPr>
          <a:xfrm rot="0">
            <a:off x="7801976" y="4552584"/>
            <a:ext cx="78238" cy="112238"/>
          </a:xfrm>
          <a:prstGeom prst="rect">
            <a:avLst/>
          </a:prstGeom>
        </p:spPr>
        <p:txBody>
          <a:bodyPr anchor="t" rtlCol="false" tIns="0" lIns="0" bIns="0" rIns="0">
            <a:spAutoFit/>
          </a:bodyPr>
          <a:lstStyle/>
          <a:p>
            <a:pPr algn="l">
              <a:lnSpc>
                <a:spcPts val="845"/>
              </a:lnSpc>
            </a:pPr>
            <a:r>
              <a:rPr lang="en-US" sz="603">
                <a:solidFill>
                  <a:srgbClr val="0000AA"/>
                </a:solidFill>
                <a:latin typeface="WenQuanYi"/>
                <a:ea typeface="WenQuanYi"/>
                <a:cs typeface="WenQuanYi"/>
                <a:sym typeface="WenQuanYi"/>
              </a:rPr>
              <a:t>⑬</a:t>
            </a:r>
          </a:p>
        </p:txBody>
      </p:sp>
      <p:sp>
        <p:nvSpPr>
          <p:cNvPr name="TextBox 108" id="108"/>
          <p:cNvSpPr txBox="true"/>
          <p:nvPr/>
        </p:nvSpPr>
        <p:spPr>
          <a:xfrm rot="0">
            <a:off x="9033808" y="7062884"/>
            <a:ext cx="78238" cy="112238"/>
          </a:xfrm>
          <a:prstGeom prst="rect">
            <a:avLst/>
          </a:prstGeom>
        </p:spPr>
        <p:txBody>
          <a:bodyPr anchor="t" rtlCol="false" tIns="0" lIns="0" bIns="0" rIns="0">
            <a:spAutoFit/>
          </a:bodyPr>
          <a:lstStyle/>
          <a:p>
            <a:pPr algn="l">
              <a:lnSpc>
                <a:spcPts val="845"/>
              </a:lnSpc>
            </a:pPr>
            <a:r>
              <a:rPr lang="en-US" sz="603">
                <a:solidFill>
                  <a:srgbClr val="0000AA"/>
                </a:solidFill>
                <a:latin typeface="WenQuanYi"/>
                <a:ea typeface="WenQuanYi"/>
                <a:cs typeface="WenQuanYi"/>
                <a:sym typeface="WenQuanYi"/>
              </a:rPr>
              <a:t>⑮</a:t>
            </a:r>
          </a:p>
        </p:txBody>
      </p:sp>
      <p:sp>
        <p:nvSpPr>
          <p:cNvPr name="TextBox 109" id="109"/>
          <p:cNvSpPr txBox="true"/>
          <p:nvPr/>
        </p:nvSpPr>
        <p:spPr>
          <a:xfrm rot="0">
            <a:off x="9041109" y="5891410"/>
            <a:ext cx="78238" cy="112238"/>
          </a:xfrm>
          <a:prstGeom prst="rect">
            <a:avLst/>
          </a:prstGeom>
        </p:spPr>
        <p:txBody>
          <a:bodyPr anchor="t" rtlCol="false" tIns="0" lIns="0" bIns="0" rIns="0">
            <a:spAutoFit/>
          </a:bodyPr>
          <a:lstStyle/>
          <a:p>
            <a:pPr algn="l">
              <a:lnSpc>
                <a:spcPts val="845"/>
              </a:lnSpc>
            </a:pPr>
            <a:r>
              <a:rPr lang="en-US" sz="603">
                <a:solidFill>
                  <a:srgbClr val="222222"/>
                </a:solidFill>
                <a:latin typeface="WenQuanYi"/>
                <a:ea typeface="WenQuanYi"/>
                <a:cs typeface="WenQuanYi"/>
                <a:sym typeface="WenQuanYi"/>
              </a:rPr>
              <a:t>⑭</a:t>
            </a:r>
          </a:p>
        </p:txBody>
      </p:sp>
      <p:sp>
        <p:nvSpPr>
          <p:cNvPr name="TextBox 110" id="110"/>
          <p:cNvSpPr txBox="true"/>
          <p:nvPr/>
        </p:nvSpPr>
        <p:spPr>
          <a:xfrm rot="0">
            <a:off x="14880498" y="1529193"/>
            <a:ext cx="2202390" cy="1928496"/>
          </a:xfrm>
          <a:prstGeom prst="rect">
            <a:avLst/>
          </a:prstGeom>
        </p:spPr>
        <p:txBody>
          <a:bodyPr anchor="t" rtlCol="false" tIns="0" lIns="0" bIns="0" rIns="0">
            <a:spAutoFit/>
          </a:bodyPr>
          <a:lstStyle/>
          <a:p>
            <a:pPr algn="just">
              <a:lnSpc>
                <a:spcPts val="842"/>
              </a:lnSpc>
            </a:pPr>
            <a:r>
              <a:rPr lang="en-US" sz="658" spc="73">
                <a:solidFill>
                  <a:srgbClr val="000000"/>
                </a:solidFill>
                <a:latin typeface="Montserrat"/>
                <a:ea typeface="Montserrat"/>
                <a:cs typeface="Montserrat"/>
                <a:sym typeface="Montserrat"/>
              </a:rPr>
              <a:t>report_id, well_id, day   str, str, int report_text           str task_plan             list[str]</a:t>
            </a:r>
          </a:p>
          <a:p>
            <a:pPr algn="just">
              <a:lnSpc>
                <a:spcPts val="842"/>
              </a:lnSpc>
            </a:pPr>
            <a:r>
              <a:rPr lang="en-US" sz="658" spc="73">
                <a:solidFill>
                  <a:srgbClr val="000000"/>
                </a:solidFill>
                <a:latin typeface="Montserrat"/>
                <a:ea typeface="Montserrat"/>
                <a:cs typeface="Montserrat"/>
                <a:sym typeface="Montserrat"/>
              </a:rPr>
              <a:t>well_plan, npt_codes, budget similar_events        list[dict] activities            list[Activity]   start, end, text, category,</a:t>
            </a:r>
          </a:p>
          <a:p>
            <a:pPr algn="just">
              <a:lnSpc>
                <a:spcPts val="842"/>
              </a:lnSpc>
            </a:pPr>
            <a:r>
              <a:rPr lang="en-US" sz="658" spc="73">
                <a:solidFill>
                  <a:srgbClr val="000000"/>
                </a:solidFill>
                <a:latin typeface="Montserrat"/>
                <a:ea typeface="Montserrat"/>
                <a:cs typeface="Montserrat"/>
                <a:sym typeface="Montserrat"/>
              </a:rPr>
              <a:t>  confidence, source_line total_hours           float (must be 24.0) npt_hours             dict[category, float] rop, depth_vs_plan_m, cost_status critic_verdict        PASS | FAIL critic_feedback       list[str] retry_count           int (max 3) draft_report, evidence_lines engineer_decision    approve | reject engineer_comment     str messages              agent + tool messages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114304" y="3143972"/>
            <a:ext cx="8059391" cy="7952784"/>
            <a:chOff x="0" y="0"/>
            <a:chExt cx="2508055" cy="2474880"/>
          </a:xfrm>
        </p:grpSpPr>
        <p:sp>
          <p:nvSpPr>
            <p:cNvPr name="Freeform 3" id="3" descr="Offshore drilling rig lit up at night"/>
            <p:cNvSpPr/>
            <p:nvPr/>
          </p:nvSpPr>
          <p:spPr>
            <a:xfrm flipH="false" flipV="false" rot="0">
              <a:off x="0" y="0"/>
              <a:ext cx="2508055" cy="2474880"/>
            </a:xfrm>
            <a:custGeom>
              <a:avLst/>
              <a:gdLst/>
              <a:ahLst/>
              <a:cxnLst/>
              <a:rect r="r" b="b" t="t" l="l"/>
              <a:pathLst>
                <a:path h="2474880" w="2508055">
                  <a:moveTo>
                    <a:pt x="0" y="0"/>
                  </a:moveTo>
                  <a:lnTo>
                    <a:pt x="2508055" y="0"/>
                  </a:lnTo>
                  <a:lnTo>
                    <a:pt x="2508055" y="2474880"/>
                  </a:lnTo>
                  <a:lnTo>
                    <a:pt x="0" y="2474880"/>
                  </a:lnTo>
                  <a:close/>
                </a:path>
              </a:pathLst>
            </a:custGeom>
            <a:blipFill>
              <a:blip r:embed="rId3"/>
              <a:stretch>
                <a:fillRect l="0" t="-31397" r="0" b="-31397"/>
              </a:stretch>
            </a:blipFill>
          </p:spPr>
        </p:sp>
      </p:grpSp>
      <p:sp>
        <p:nvSpPr>
          <p:cNvPr name="Freeform 4" id="4"/>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0" y="-709"/>
            <a:ext cx="18288000" cy="2912935"/>
          </a:xfrm>
          <a:prstGeom prst="rect">
            <a:avLst/>
          </a:prstGeom>
        </p:spPr>
        <p:txBody>
          <a:bodyPr anchor="t" rtlCol="false" tIns="0" lIns="0" bIns="0" rIns="0">
            <a:spAutoFit/>
          </a:bodyPr>
          <a:lstStyle/>
          <a:p>
            <a:pPr algn="ctr" marL="0" indent="0" lvl="0">
              <a:lnSpc>
                <a:spcPts val="23719"/>
              </a:lnSpc>
              <a:spcBef>
                <a:spcPct val="0"/>
              </a:spcBef>
            </a:pPr>
            <a:r>
              <a:rPr lang="en-US" sz="16942" strike="noStrike" u="none">
                <a:solidFill>
                  <a:srgbClr val="FFFAE5"/>
                </a:solidFill>
                <a:latin typeface="Anton"/>
                <a:ea typeface="Anton"/>
                <a:cs typeface="Anton"/>
                <a:sym typeface="Anton"/>
              </a:rPr>
              <a:t>EDGE TYPES</a:t>
            </a:r>
          </a:p>
        </p:txBody>
      </p:sp>
      <p:sp>
        <p:nvSpPr>
          <p:cNvPr name="TextBox 6" id="6"/>
          <p:cNvSpPr txBox="true"/>
          <p:nvPr/>
        </p:nvSpPr>
        <p:spPr>
          <a:xfrm rot="0">
            <a:off x="12039600" y="9010650"/>
            <a:ext cx="5715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HOW THE GRAPH MOVES</a:t>
            </a:r>
          </a:p>
        </p:txBody>
      </p:sp>
      <p:sp>
        <p:nvSpPr>
          <p:cNvPr name="TextBox 7" id="7"/>
          <p:cNvSpPr txBox="true"/>
          <p:nvPr/>
        </p:nvSpPr>
        <p:spPr>
          <a:xfrm rot="0">
            <a:off x="14004872" y="3340851"/>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TOOL / DATA: agents call Python tools, reference data and the incident memory.</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FINAL: a Critic PASS or used up retries goes to the engineer, then to END.</a:t>
            </a:r>
          </a:p>
        </p:txBody>
      </p:sp>
      <p:sp>
        <p:nvSpPr>
          <p:cNvPr name="TextBox 8" id="8"/>
          <p:cNvSpPr txBox="true"/>
          <p:nvPr/>
        </p:nvSpPr>
        <p:spPr>
          <a:xfrm rot="0">
            <a:off x="14004872" y="5758627"/>
            <a:ext cx="3749985" cy="89077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SYSTEM I/O: the web app, DDR files and checkpoints that let the graph pause and resume (Source 5).</a:t>
            </a:r>
          </a:p>
        </p:txBody>
      </p:sp>
      <p:sp>
        <p:nvSpPr>
          <p:cNvPr name="TextBox 9" id="9"/>
          <p:cNvSpPr txBox="true"/>
          <p:nvPr/>
        </p:nvSpPr>
        <p:spPr>
          <a:xfrm rot="0">
            <a:off x="575227" y="3340851"/>
            <a:ext cx="3710402"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NORMAL: a fixed step that always runs, like START to ingest or an agent handing back to the Orchestrator.</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CONDITIONAL: route() or tools_condition picks the next node from the state.</a:t>
            </a:r>
          </a:p>
        </p:txBody>
      </p:sp>
      <p:sp>
        <p:nvSpPr>
          <p:cNvPr name="TextBox 10" id="10"/>
          <p:cNvSpPr txBox="true"/>
          <p:nvPr/>
        </p:nvSpPr>
        <p:spPr>
          <a:xfrm rot="0">
            <a:off x="575227" y="5758627"/>
            <a:ext cx="3710402"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REVIEW: finished results go to the Critic for checking.</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LEARNING / RETRY: a Critic FAIL sends work back with feedback, up to 3 times, and failed cases are saved to memory.</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70968" y="-193159"/>
            <a:ext cx="20362281" cy="8455243"/>
            <a:chOff x="0" y="0"/>
            <a:chExt cx="6336673" cy="2631243"/>
          </a:xfrm>
        </p:grpSpPr>
        <p:sp>
          <p:nvSpPr>
            <p:cNvPr name="Freeform 3" id="3" descr="Hands typing on a laptop at a rig site"/>
            <p:cNvSpPr/>
            <p:nvPr/>
          </p:nvSpPr>
          <p:spPr>
            <a:xfrm flipH="false" flipV="false" rot="0">
              <a:off x="0" y="0"/>
              <a:ext cx="6336673" cy="2631243"/>
            </a:xfrm>
            <a:custGeom>
              <a:avLst/>
              <a:gdLst/>
              <a:ahLst/>
              <a:cxnLst/>
              <a:rect r="r" b="b" t="t" l="l"/>
              <a:pathLst>
                <a:path h="2631243" w="6336673">
                  <a:moveTo>
                    <a:pt x="0" y="0"/>
                  </a:moveTo>
                  <a:lnTo>
                    <a:pt x="6336673" y="0"/>
                  </a:lnTo>
                  <a:lnTo>
                    <a:pt x="6336673" y="2631243"/>
                  </a:lnTo>
                  <a:lnTo>
                    <a:pt x="0" y="2631243"/>
                  </a:lnTo>
                  <a:close/>
                </a:path>
              </a:pathLst>
            </a:custGeom>
            <a:blipFill>
              <a:blip r:embed="rId3"/>
              <a:stretch>
                <a:fillRect l="0" t="-29020" r="0" b="-29020"/>
              </a:stretch>
            </a:blipFill>
          </p:spPr>
        </p:sp>
      </p:grpSp>
      <p:sp>
        <p:nvSpPr>
          <p:cNvPr name="TextBox 4" id="4"/>
          <p:cNvSpPr txBox="true"/>
          <p:nvPr/>
        </p:nvSpPr>
        <p:spPr>
          <a:xfrm rot="0">
            <a:off x="0" y="3086159"/>
            <a:ext cx="18123856" cy="5175924"/>
          </a:xfrm>
          <a:prstGeom prst="rect">
            <a:avLst/>
          </a:prstGeom>
        </p:spPr>
        <p:txBody>
          <a:bodyPr anchor="t" rtlCol="false" tIns="0" lIns="0" bIns="0" rIns="0">
            <a:spAutoFit/>
          </a:bodyPr>
          <a:lstStyle/>
          <a:p>
            <a:pPr algn="ctr" marL="0" indent="0" lvl="0">
              <a:lnSpc>
                <a:spcPts val="37553"/>
              </a:lnSpc>
              <a:spcBef>
                <a:spcPct val="0"/>
              </a:spcBef>
            </a:pPr>
            <a:r>
              <a:rPr lang="en-US" sz="42194" spc="-717" strike="noStrike" u="none">
                <a:solidFill>
                  <a:srgbClr val="FFFAE5"/>
                </a:solidFill>
                <a:latin typeface="Anton"/>
                <a:ea typeface="Anton"/>
                <a:cs typeface="Anton"/>
                <a:sym typeface="Anton"/>
              </a:rPr>
              <a:t>PYTHON</a:t>
            </a:r>
          </a:p>
        </p:txBody>
      </p:sp>
      <p:sp>
        <p:nvSpPr>
          <p:cNvPr name="TextBox 5" id="5"/>
          <p:cNvSpPr txBox="true"/>
          <p:nvPr/>
        </p:nvSpPr>
        <p:spPr>
          <a:xfrm rot="0">
            <a:off x="3765190" y="3692561"/>
            <a:ext cx="10211699" cy="1755739"/>
          </a:xfrm>
          <a:prstGeom prst="rect">
            <a:avLst/>
          </a:prstGeom>
        </p:spPr>
        <p:txBody>
          <a:bodyPr anchor="t" rtlCol="false" tIns="0" lIns="0" bIns="0" rIns="0">
            <a:spAutoFit/>
          </a:bodyPr>
          <a:lstStyle/>
          <a:p>
            <a:pPr algn="ctr" marL="0" indent="0" lvl="0">
              <a:lnSpc>
                <a:spcPts val="14305"/>
              </a:lnSpc>
              <a:spcBef>
                <a:spcPct val="0"/>
              </a:spcBef>
            </a:pPr>
            <a:r>
              <a:rPr lang="en-US" sz="10218" strike="noStrike" u="none">
                <a:solidFill>
                  <a:srgbClr val="F63B05"/>
                </a:solidFill>
                <a:latin typeface="Amsterdam Four"/>
                <a:ea typeface="Amsterdam Four"/>
                <a:cs typeface="Amsterdam Four"/>
                <a:sym typeface="Amsterdam Four"/>
              </a:rPr>
              <a:t>does the maths</a:t>
            </a:r>
          </a:p>
        </p:txBody>
      </p:sp>
      <p:sp>
        <p:nvSpPr>
          <p:cNvPr name="TextBox 6" id="6"/>
          <p:cNvSpPr txBox="true"/>
          <p:nvPr/>
        </p:nvSpPr>
        <p:spPr>
          <a:xfrm rot="0">
            <a:off x="548739"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THE MODEL READS: a hosted model (gpt-oss-20b on Groq's free tier) only labels each log line with an NPT category and a confidence score. A mock classifier is the fallback.</a:t>
            </a:r>
          </a:p>
        </p:txBody>
      </p:sp>
      <p:sp>
        <p:nvSpPr>
          <p:cNvPr name="TextBox 7" id="7"/>
          <p:cNvSpPr txBox="true"/>
          <p:nvPr/>
        </p:nvSpPr>
        <p:spPr>
          <a:xfrm rot="0">
            <a:off x="9416961"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PYTHON COUNTS: tools parse the time log, sum the hours, work out ROP and compare cost with budget, so every number is exact and repeatable. Stack: Python, LangGraph, LangChain, Groq, FastAPI (Sources 5 to 8).</a:t>
            </a:r>
          </a:p>
        </p:txBody>
      </p:sp>
      <p:sp>
        <p:nvSpPr>
          <p:cNvPr name="Freeform 8" id="8"/>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LLM + TOOLS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713197" y="490600"/>
            <a:ext cx="19714394" cy="4814398"/>
            <a:chOff x="0" y="0"/>
            <a:chExt cx="6135052" cy="1498224"/>
          </a:xfrm>
        </p:grpSpPr>
        <p:sp>
          <p:nvSpPr>
            <p:cNvPr name="Freeform 3" id="3" descr="Field tools and gauges laid out on a table"/>
            <p:cNvSpPr/>
            <p:nvPr/>
          </p:nvSpPr>
          <p:spPr>
            <a:xfrm flipH="false" flipV="false" rot="0">
              <a:off x="0" y="0"/>
              <a:ext cx="6135053" cy="1498224"/>
            </a:xfrm>
            <a:custGeom>
              <a:avLst/>
              <a:gdLst/>
              <a:ahLst/>
              <a:cxnLst/>
              <a:rect r="r" b="b" t="t" l="l"/>
              <a:pathLst>
                <a:path h="1498224" w="6135053">
                  <a:moveTo>
                    <a:pt x="0" y="0"/>
                  </a:moveTo>
                  <a:lnTo>
                    <a:pt x="6135053" y="0"/>
                  </a:lnTo>
                  <a:lnTo>
                    <a:pt x="6135053" y="1498224"/>
                  </a:lnTo>
                  <a:lnTo>
                    <a:pt x="0" y="1498224"/>
                  </a:lnTo>
                  <a:close/>
                </a:path>
              </a:pathLst>
            </a:custGeom>
            <a:blipFill>
              <a:blip r:embed="rId3"/>
              <a:stretch>
                <a:fillRect l="0" t="-94856" r="0" b="-94856"/>
              </a:stretch>
            </a:blipFill>
          </p:spPr>
        </p:sp>
      </p:grpSp>
      <p:sp>
        <p:nvSpPr>
          <p:cNvPr name="TextBox 4" id="4"/>
          <p:cNvSpPr txBox="true"/>
          <p:nvPr/>
        </p:nvSpPr>
        <p:spPr>
          <a:xfrm rot="0">
            <a:off x="544207" y="4189139"/>
            <a:ext cx="14038862" cy="3044853"/>
          </a:xfrm>
          <a:prstGeom prst="rect">
            <a:avLst/>
          </a:prstGeom>
        </p:spPr>
        <p:txBody>
          <a:bodyPr anchor="t" rtlCol="false" tIns="0" lIns="0" bIns="0" rIns="0">
            <a:spAutoFit/>
          </a:bodyPr>
          <a:lstStyle/>
          <a:p>
            <a:pPr algn="just" marL="0" indent="0" lvl="0">
              <a:lnSpc>
                <a:spcPts val="22892"/>
              </a:lnSpc>
              <a:spcBef>
                <a:spcPct val="0"/>
              </a:spcBef>
            </a:pPr>
            <a:r>
              <a:rPr lang="en-US" sz="23123" strike="noStrike" u="none">
                <a:solidFill>
                  <a:srgbClr val="FFFAE5"/>
                </a:solidFill>
                <a:latin typeface="Anton"/>
                <a:ea typeface="Anton"/>
                <a:cs typeface="Anton"/>
                <a:sym typeface="Anton"/>
              </a:rPr>
              <a:t>ONE REPORT</a:t>
            </a:r>
          </a:p>
        </p:txBody>
      </p:sp>
      <p:sp>
        <p:nvSpPr>
          <p:cNvPr name="Freeform 5" id="5"/>
          <p:cNvSpPr/>
          <p:nvPr/>
        </p:nvSpPr>
        <p:spPr>
          <a:xfrm flipH="false" flipV="false" rot="362672">
            <a:off x="-402284" y="3301446"/>
            <a:ext cx="9331919" cy="4564157"/>
          </a:xfrm>
          <a:custGeom>
            <a:avLst/>
            <a:gdLst/>
            <a:ahLst/>
            <a:cxnLst/>
            <a:rect r="r" b="b" t="t" l="l"/>
            <a:pathLst>
              <a:path h="4564157" w="9331919">
                <a:moveTo>
                  <a:pt x="0" y="0"/>
                </a:moveTo>
                <a:lnTo>
                  <a:pt x="9331919" y="0"/>
                </a:lnTo>
                <a:lnTo>
                  <a:pt x="9331919" y="4564157"/>
                </a:lnTo>
                <a:lnTo>
                  <a:pt x="0" y="45641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THROUGH THE GRAPH</a:t>
            </a:r>
          </a:p>
        </p:txBody>
      </p:sp>
      <p:sp>
        <p:nvSpPr>
          <p:cNvPr name="TextBox 8" id="8"/>
          <p:cNvSpPr txBox="true"/>
          <p:nvPr/>
        </p:nvSpPr>
        <p:spPr>
          <a:xfrm rot="0">
            <a:off x="14001750" y="5514975"/>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PLAN AND RESEARCH</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Well W-02, Day 14. The Planner makes 9 tasks. Research finds 2,650 m planned against 2,610 m actual and two past MWD failures on this field.</a:t>
            </a:r>
          </a:p>
        </p:txBody>
      </p:sp>
      <p:sp>
        <p:nvSpPr>
          <p:cNvPr name="TextBox 9" id="9"/>
          <p:cNvSpPr txBox="true"/>
          <p:nvPr/>
        </p:nvSpPr>
        <p:spPr>
          <a:xfrm rot="0">
            <a:off x="14001750" y="8562975"/>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ENGINEER DECIDES</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The draft matches the answer key (8.0 h NPT) and the engineer approves. A wrong label is fixed with one reject comment.</a:t>
            </a:r>
          </a:p>
        </p:txBody>
      </p:sp>
      <p:sp>
        <p:nvSpPr>
          <p:cNvPr name="TextBox 10" id="10"/>
          <p:cNvSpPr txBox="true"/>
          <p:nvPr/>
        </p:nvSpPr>
        <p:spPr>
          <a:xfrm rot="0">
            <a:off x="14001750" y="7038975"/>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EXECUTE AND CHECK</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Tools label 5.5 h of tool failure. The Critic sees 23.5 h, not 24, names the 20:30-21:00 gap and sends it back. The retry finds it in REMARKS.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70968" y="-193159"/>
            <a:ext cx="20362281" cy="8455243"/>
            <a:chOff x="0" y="0"/>
            <a:chExt cx="6336673" cy="2631243"/>
          </a:xfrm>
        </p:grpSpPr>
        <p:sp>
          <p:nvSpPr>
            <p:cNvPr name="Freeform 3" id="3" descr="Shelves of archived report folders"/>
            <p:cNvSpPr/>
            <p:nvPr/>
          </p:nvSpPr>
          <p:spPr>
            <a:xfrm flipH="false" flipV="false" rot="0">
              <a:off x="0" y="0"/>
              <a:ext cx="6336673" cy="2631243"/>
            </a:xfrm>
            <a:custGeom>
              <a:avLst/>
              <a:gdLst/>
              <a:ahLst/>
              <a:cxnLst/>
              <a:rect r="r" b="b" t="t" l="l"/>
              <a:pathLst>
                <a:path h="2631243" w="6336673">
                  <a:moveTo>
                    <a:pt x="0" y="0"/>
                  </a:moveTo>
                  <a:lnTo>
                    <a:pt x="6336673" y="0"/>
                  </a:lnTo>
                  <a:lnTo>
                    <a:pt x="6336673" y="2631243"/>
                  </a:lnTo>
                  <a:lnTo>
                    <a:pt x="0" y="2631243"/>
                  </a:lnTo>
                  <a:close/>
                </a:path>
              </a:pathLst>
            </a:custGeom>
            <a:blipFill>
              <a:blip r:embed="rId3"/>
              <a:stretch>
                <a:fillRect l="0" t="-109486" r="0" b="-109486"/>
              </a:stretch>
            </a:blipFill>
          </p:spPr>
        </p:sp>
      </p:grpSp>
      <p:sp>
        <p:nvSpPr>
          <p:cNvPr name="TextBox 4" id="4"/>
          <p:cNvSpPr txBox="true"/>
          <p:nvPr/>
        </p:nvSpPr>
        <p:spPr>
          <a:xfrm rot="0">
            <a:off x="0" y="3086159"/>
            <a:ext cx="18123856" cy="5175924"/>
          </a:xfrm>
          <a:prstGeom prst="rect">
            <a:avLst/>
          </a:prstGeom>
        </p:spPr>
        <p:txBody>
          <a:bodyPr anchor="t" rtlCol="false" tIns="0" lIns="0" bIns="0" rIns="0">
            <a:spAutoFit/>
          </a:bodyPr>
          <a:lstStyle/>
          <a:p>
            <a:pPr algn="ctr" marL="0" indent="0" lvl="0">
              <a:lnSpc>
                <a:spcPts val="37553"/>
              </a:lnSpc>
              <a:spcBef>
                <a:spcPct val="0"/>
              </a:spcBef>
            </a:pPr>
            <a:r>
              <a:rPr lang="en-US" sz="42194" spc="-717" strike="noStrike" u="none">
                <a:solidFill>
                  <a:srgbClr val="FFFAE5"/>
                </a:solidFill>
                <a:latin typeface="Anton"/>
                <a:ea typeface="Anton"/>
                <a:cs typeface="Anton"/>
                <a:sym typeface="Anton"/>
              </a:rPr>
              <a:t>DATASET</a:t>
            </a:r>
          </a:p>
        </p:txBody>
      </p:sp>
      <p:sp>
        <p:nvSpPr>
          <p:cNvPr name="TextBox 5" id="5"/>
          <p:cNvSpPr txBox="true"/>
          <p:nvPr/>
        </p:nvSpPr>
        <p:spPr>
          <a:xfrm rot="0">
            <a:off x="3765190" y="3692561"/>
            <a:ext cx="10211699" cy="1755739"/>
          </a:xfrm>
          <a:prstGeom prst="rect">
            <a:avLst/>
          </a:prstGeom>
        </p:spPr>
        <p:txBody>
          <a:bodyPr anchor="t" rtlCol="false" tIns="0" lIns="0" bIns="0" rIns="0">
            <a:spAutoFit/>
          </a:bodyPr>
          <a:lstStyle/>
          <a:p>
            <a:pPr algn="ctr" marL="0" indent="0" lvl="0">
              <a:lnSpc>
                <a:spcPts val="14305"/>
              </a:lnSpc>
              <a:spcBef>
                <a:spcPct val="0"/>
              </a:spcBef>
            </a:pPr>
            <a:r>
              <a:rPr lang="en-US" sz="10218" strike="noStrike" u="none">
                <a:solidFill>
                  <a:srgbClr val="F63B05"/>
                </a:solidFill>
                <a:latin typeface="Amsterdam Four"/>
                <a:ea typeface="Amsterdam Four"/>
                <a:cs typeface="Amsterdam Four"/>
                <a:sym typeface="Amsterdam Four"/>
              </a:rPr>
              <a:t>known answers</a:t>
            </a:r>
          </a:p>
        </p:txBody>
      </p:sp>
      <p:sp>
        <p:nvSpPr>
          <p:cNvPr name="TextBox 6" id="6"/>
          <p:cNvSpPr txBox="true"/>
          <p:nvPr/>
        </p:nvSpPr>
        <p:spPr>
          <a:xfrm rot="0">
            <a:off x="548739"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15 REPORTS, 3 WELLS, 5 DAYS EACH: 11 have planted NPT events covering all six categories, from tool failure to well control, 2 are clean days and 2 carry deliberate errors, such as a time log that adds to 23.5 hours.</a:t>
            </a:r>
          </a:p>
        </p:txBody>
      </p:sp>
      <p:sp>
        <p:nvSpPr>
          <p:cNvPr name="TextBox 7" id="7"/>
          <p:cNvSpPr txBox="true"/>
          <p:nvPr/>
        </p:nvSpPr>
        <p:spPr>
          <a:xfrm rot="0">
            <a:off x="9416961"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REFERENCE FILES: well plan depth per day, NPT category list and daily cost budget, plus a memory table of past incidents with cause and fix. We planted every event ourselves, so we know the right answer for each report.</a:t>
            </a:r>
          </a:p>
        </p:txBody>
      </p:sp>
      <p:sp>
        <p:nvSpPr>
          <p:cNvPr name="Freeform 8" id="8"/>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DUMMY DATA</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grpSp>
        <p:nvGrpSpPr>
          <p:cNvPr name="Group 2" id="2"/>
          <p:cNvGrpSpPr/>
          <p:nvPr/>
        </p:nvGrpSpPr>
        <p:grpSpPr>
          <a:xfrm rot="0">
            <a:off x="11119049" y="0"/>
            <a:ext cx="7168951" cy="10445947"/>
            <a:chOff x="0" y="0"/>
            <a:chExt cx="1888119" cy="2751196"/>
          </a:xfrm>
        </p:grpSpPr>
        <p:sp>
          <p:nvSpPr>
            <p:cNvPr name="Freeform 3" id="3"/>
            <p:cNvSpPr/>
            <p:nvPr/>
          </p:nvSpPr>
          <p:spPr>
            <a:xfrm flipH="false" flipV="false" rot="0">
              <a:off x="0" y="0"/>
              <a:ext cx="1888119" cy="2751196"/>
            </a:xfrm>
            <a:custGeom>
              <a:avLst/>
              <a:gdLst/>
              <a:ahLst/>
              <a:cxnLst/>
              <a:rect r="r" b="b" t="t" l="l"/>
              <a:pathLst>
                <a:path h="2751196" w="1888119">
                  <a:moveTo>
                    <a:pt x="0" y="0"/>
                  </a:moveTo>
                  <a:lnTo>
                    <a:pt x="1888119" y="0"/>
                  </a:lnTo>
                  <a:lnTo>
                    <a:pt x="1888119" y="2751196"/>
                  </a:lnTo>
                  <a:lnTo>
                    <a:pt x="0" y="2751196"/>
                  </a:lnTo>
                  <a:close/>
                </a:path>
              </a:pathLst>
            </a:custGeom>
            <a:solidFill>
              <a:srgbClr val="000000"/>
            </a:solidFill>
          </p:spPr>
        </p:sp>
        <p:sp>
          <p:nvSpPr>
            <p:cNvPr name="TextBox 4" id="4"/>
            <p:cNvSpPr txBox="true"/>
            <p:nvPr/>
          </p:nvSpPr>
          <p:spPr>
            <a:xfrm>
              <a:off x="0" y="-47625"/>
              <a:ext cx="1888119" cy="2798821"/>
            </a:xfrm>
            <a:prstGeom prst="rect">
              <a:avLst/>
            </a:prstGeom>
          </p:spPr>
          <p:txBody>
            <a:bodyPr anchor="ctr" rtlCol="false" tIns="50800" lIns="50800" bIns="50800" rIns="50800"/>
            <a:lstStyle/>
            <a:p>
              <a:pPr algn="ctr">
                <a:lnSpc>
                  <a:spcPts val="3431"/>
                </a:lnSpc>
              </a:pPr>
            </a:p>
          </p:txBody>
        </p:sp>
      </p:grpSp>
      <p:grpSp>
        <p:nvGrpSpPr>
          <p:cNvPr name="Group 5" id="5"/>
          <p:cNvGrpSpPr/>
          <p:nvPr/>
        </p:nvGrpSpPr>
        <p:grpSpPr>
          <a:xfrm rot="0">
            <a:off x="-517241" y="0"/>
            <a:ext cx="11197062" cy="10445947"/>
            <a:chOff x="0" y="0"/>
            <a:chExt cx="3484488" cy="3250743"/>
          </a:xfrm>
        </p:grpSpPr>
        <p:sp>
          <p:nvSpPr>
            <p:cNvPr name="Freeform 6" id="6" descr="Rig crew checking a laptop on site"/>
            <p:cNvSpPr/>
            <p:nvPr/>
          </p:nvSpPr>
          <p:spPr>
            <a:xfrm flipH="false" flipV="false" rot="0">
              <a:off x="0" y="0"/>
              <a:ext cx="3484488" cy="3250743"/>
            </a:xfrm>
            <a:custGeom>
              <a:avLst/>
              <a:gdLst/>
              <a:ahLst/>
              <a:cxnLst/>
              <a:rect r="r" b="b" t="t" l="l"/>
              <a:pathLst>
                <a:path h="3250743" w="3484488">
                  <a:moveTo>
                    <a:pt x="0" y="0"/>
                  </a:moveTo>
                  <a:lnTo>
                    <a:pt x="3484488" y="0"/>
                  </a:lnTo>
                  <a:lnTo>
                    <a:pt x="3484488" y="3250743"/>
                  </a:lnTo>
                  <a:lnTo>
                    <a:pt x="0" y="3250743"/>
                  </a:lnTo>
                  <a:close/>
                </a:path>
              </a:pathLst>
            </a:custGeom>
            <a:blipFill>
              <a:blip r:embed="rId3"/>
              <a:stretch>
                <a:fillRect l="-21079" t="0" r="-21079" b="0"/>
              </a:stretch>
            </a:blipFill>
          </p:spPr>
        </p:sp>
      </p:grpSp>
      <p:sp>
        <p:nvSpPr>
          <p:cNvPr name="TextBox 7" id="7"/>
          <p:cNvSpPr txBox="true"/>
          <p:nvPr/>
        </p:nvSpPr>
        <p:spPr>
          <a:xfrm rot="0">
            <a:off x="8195181" y="5532917"/>
            <a:ext cx="10092819" cy="4520820"/>
          </a:xfrm>
          <a:prstGeom prst="rect">
            <a:avLst/>
          </a:prstGeom>
        </p:spPr>
        <p:txBody>
          <a:bodyPr anchor="t" rtlCol="false" tIns="0" lIns="0" bIns="0" rIns="0">
            <a:spAutoFit/>
          </a:bodyPr>
          <a:lstStyle/>
          <a:p>
            <a:pPr algn="just" marL="0" indent="0" lvl="0">
              <a:lnSpc>
                <a:spcPts val="36945"/>
              </a:lnSpc>
              <a:spcBef>
                <a:spcPct val="0"/>
              </a:spcBef>
            </a:pPr>
            <a:r>
              <a:rPr lang="en-US" sz="26389" strike="noStrike" u="none">
                <a:solidFill>
                  <a:srgbClr val="FFFAE5"/>
                </a:solidFill>
                <a:latin typeface="Anton"/>
                <a:ea typeface="Anton"/>
                <a:cs typeface="Anton"/>
                <a:sym typeface="Anton"/>
              </a:rPr>
              <a:t>DEMO</a:t>
            </a:r>
          </a:p>
        </p:txBody>
      </p:sp>
      <p:sp>
        <p:nvSpPr>
          <p:cNvPr name="TextBox 8" id="8"/>
          <p:cNvSpPr txBox="true"/>
          <p:nvPr/>
        </p:nvSpPr>
        <p:spPr>
          <a:xfrm rot="0">
            <a:off x="11872137" y="4848225"/>
            <a:ext cx="5387163"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TEST CASES: a clean report, a tool failure report and a report where the Critic catches an error.</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LIVE: rig-sight.onrender.com</a:t>
            </a:r>
          </a:p>
        </p:txBody>
      </p:sp>
      <p:sp>
        <p:nvSpPr>
          <p:cNvPr name="TextBox 9" id="9"/>
          <p:cNvSpPr txBox="true"/>
          <p:nvPr/>
        </p:nvSpPr>
        <p:spPr>
          <a:xfrm rot="0">
            <a:off x="11872137" y="2658707"/>
            <a:ext cx="5387163"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Pick a report and see the raw text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Watch each agent run with its output shown live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See productive vs lost hours and NPT by category in a chart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4  Read the insight report with source lines</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5  The engineer clicks Approve or Reject</a:t>
            </a:r>
          </a:p>
        </p:txBody>
      </p:sp>
      <p:sp>
        <p:nvSpPr>
          <p:cNvPr name="Freeform 10" id="10"/>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THE WEB APP</a:t>
            </a:r>
          </a:p>
        </p:txBody>
      </p:sp>
      <p:sp>
        <p:nvSpPr>
          <p:cNvPr name="Freeform 12" id="12"/>
          <p:cNvSpPr/>
          <p:nvPr/>
        </p:nvSpPr>
        <p:spPr>
          <a:xfrm flipH="false" flipV="false" rot="0">
            <a:off x="12172062" y="8115300"/>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5400000">
            <a:off x="-2988699" y="3161088"/>
            <a:ext cx="9416059" cy="3964823"/>
          </a:xfrm>
          <a:prstGeom prst="rect">
            <a:avLst/>
          </a:prstGeom>
        </p:spPr>
        <p:txBody>
          <a:bodyPr anchor="t" rtlCol="false" tIns="0" lIns="0" bIns="0" rIns="0">
            <a:spAutoFit/>
          </a:bodyPr>
          <a:lstStyle/>
          <a:p>
            <a:pPr algn="ctr" marL="0" indent="0" lvl="0">
              <a:lnSpc>
                <a:spcPts val="32501"/>
              </a:lnSpc>
              <a:spcBef>
                <a:spcPct val="0"/>
              </a:spcBef>
            </a:pPr>
            <a:r>
              <a:rPr lang="en-US" sz="23215" strike="noStrike" u="none">
                <a:solidFill>
                  <a:srgbClr val="FFFAE5"/>
                </a:solidFill>
                <a:latin typeface="Anton"/>
                <a:ea typeface="Anton"/>
                <a:cs typeface="Anton"/>
                <a:sym typeface="Anton"/>
              </a:rPr>
              <a:t>METRICS</a:t>
            </a:r>
          </a:p>
        </p:txBody>
      </p:sp>
      <p:sp>
        <p:nvSpPr>
          <p:cNvPr name="Freeform 3" id="3"/>
          <p:cNvSpPr/>
          <p:nvPr/>
        </p:nvSpPr>
        <p:spPr>
          <a:xfrm flipH="false" flipV="false" rot="0">
            <a:off x="-6958250"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24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3909572" y="-207640"/>
            <a:ext cx="5831562" cy="10861064"/>
            <a:chOff x="0" y="0"/>
            <a:chExt cx="1535885" cy="2860527"/>
          </a:xfrm>
        </p:grpSpPr>
        <p:sp>
          <p:nvSpPr>
            <p:cNvPr name="Freeform 5" id="5"/>
            <p:cNvSpPr/>
            <p:nvPr/>
          </p:nvSpPr>
          <p:spPr>
            <a:xfrm flipH="false" flipV="false" rot="0">
              <a:off x="0" y="0"/>
              <a:ext cx="1535885" cy="2860527"/>
            </a:xfrm>
            <a:custGeom>
              <a:avLst/>
              <a:gdLst/>
              <a:ahLst/>
              <a:cxnLst/>
              <a:rect r="r" b="b" t="t" l="l"/>
              <a:pathLst>
                <a:path h="2860527" w="1535885">
                  <a:moveTo>
                    <a:pt x="0" y="0"/>
                  </a:moveTo>
                  <a:lnTo>
                    <a:pt x="1535885" y="0"/>
                  </a:lnTo>
                  <a:lnTo>
                    <a:pt x="1535885" y="2860527"/>
                  </a:lnTo>
                  <a:lnTo>
                    <a:pt x="0" y="2860527"/>
                  </a:lnTo>
                  <a:close/>
                </a:path>
              </a:pathLst>
            </a:custGeom>
            <a:solidFill>
              <a:srgbClr val="000000"/>
            </a:solidFill>
          </p:spPr>
        </p:sp>
        <p:sp>
          <p:nvSpPr>
            <p:cNvPr name="TextBox 6" id="6"/>
            <p:cNvSpPr txBox="true"/>
            <p:nvPr/>
          </p:nvSpPr>
          <p:spPr>
            <a:xfrm>
              <a:off x="0" y="-47625"/>
              <a:ext cx="1535885" cy="2908152"/>
            </a:xfrm>
            <a:prstGeom prst="rect">
              <a:avLst/>
            </a:prstGeom>
          </p:spPr>
          <p:txBody>
            <a:bodyPr anchor="ctr" rtlCol="false" tIns="50800" lIns="50800" bIns="50800" rIns="50800"/>
            <a:lstStyle/>
            <a:p>
              <a:pPr algn="ctr">
                <a:lnSpc>
                  <a:spcPts val="3431"/>
                </a:lnSpc>
              </a:pPr>
            </a:p>
          </p:txBody>
        </p:sp>
      </p:grpSp>
      <p:grpSp>
        <p:nvGrpSpPr>
          <p:cNvPr name="Group 7" id="7"/>
          <p:cNvGrpSpPr/>
          <p:nvPr/>
        </p:nvGrpSpPr>
        <p:grpSpPr>
          <a:xfrm rot="0">
            <a:off x="10303110" y="583079"/>
            <a:ext cx="8059391" cy="9268450"/>
            <a:chOff x="0" y="0"/>
            <a:chExt cx="2508055" cy="2884310"/>
          </a:xfrm>
        </p:grpSpPr>
        <p:sp>
          <p:nvSpPr>
            <p:cNvPr name="Freeform 8" id="8" descr="Pressure gauges on drilling equipment"/>
            <p:cNvSpPr/>
            <p:nvPr/>
          </p:nvSpPr>
          <p:spPr>
            <a:xfrm flipH="false" flipV="false" rot="0">
              <a:off x="0" y="0"/>
              <a:ext cx="2508055" cy="2884310"/>
            </a:xfrm>
            <a:custGeom>
              <a:avLst/>
              <a:gdLst/>
              <a:ahLst/>
              <a:cxnLst/>
              <a:rect r="r" b="b" t="t" l="l"/>
              <a:pathLst>
                <a:path h="2884310" w="2508055">
                  <a:moveTo>
                    <a:pt x="0" y="0"/>
                  </a:moveTo>
                  <a:lnTo>
                    <a:pt x="2508055" y="0"/>
                  </a:lnTo>
                  <a:lnTo>
                    <a:pt x="2508055" y="2884310"/>
                  </a:lnTo>
                  <a:lnTo>
                    <a:pt x="0" y="2884310"/>
                  </a:lnTo>
                  <a:close/>
                </a:path>
              </a:pathLst>
            </a:custGeom>
            <a:blipFill>
              <a:blip r:embed="rId5"/>
              <a:stretch>
                <a:fillRect l="-55992" t="0" r="-55992" b="0"/>
              </a:stretch>
            </a:blipFill>
          </p:spPr>
        </p:sp>
      </p:grpSp>
      <p:sp>
        <p:nvSpPr>
          <p:cNvPr name="TextBox 9" id="9"/>
          <p:cNvSpPr txBox="true"/>
          <p:nvPr/>
        </p:nvSpPr>
        <p:spPr>
          <a:xfrm rot="0">
            <a:off x="4950361" y="621179"/>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Every synthetic report has a known right answer, so we score the system on NPT hours error per report and category accuracy across all planted NPT events.</a:t>
            </a:r>
          </a:p>
        </p:txBody>
      </p:sp>
      <p:sp>
        <p:nvSpPr>
          <p:cNvPr name="TextBox 10" id="10"/>
          <p:cNvSpPr txBox="true"/>
          <p:nvPr/>
        </p:nvSpPr>
        <p:spPr>
          <a:xfrm rot="0">
            <a:off x="4950361" y="5695950"/>
            <a:ext cx="3749985"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RESULTS: 0.07 h NPT error per report vs 0.57 h for a single prompt chatbot on the same model. The Critic caught 2 of 2 errors.</a:t>
            </a:r>
          </a:p>
        </p:txBody>
      </p:sp>
      <p:sp>
        <p:nvSpPr>
          <p:cNvPr name="TextBox 11" id="11"/>
          <p:cNvSpPr txBox="true"/>
          <p:nvPr/>
        </p:nvSpPr>
        <p:spPr>
          <a:xfrm rot="0">
            <a:off x="4949344" y="3157347"/>
            <a:ext cx="3749985"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We also track the Critic catch rate on the 2 reports with planted errors, and run the same 15 reports without the Critic and through a single prompt chatbot. Every claim must point to a line in the report.</a:t>
            </a:r>
          </a:p>
        </p:txBody>
      </p:sp>
      <p:sp>
        <p:nvSpPr>
          <p:cNvPr name="TextBox 12" id="12"/>
          <p:cNvSpPr txBox="true"/>
          <p:nvPr/>
        </p:nvSpPr>
        <p:spPr>
          <a:xfrm rot="0">
            <a:off x="13491473" y="9012726"/>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HOW WE CHECK</a:t>
            </a:r>
          </a:p>
        </p:txBody>
      </p:sp>
      <p:sp>
        <p:nvSpPr>
          <p:cNvPr name="Freeform 13" id="13"/>
          <p:cNvSpPr/>
          <p:nvPr/>
        </p:nvSpPr>
        <p:spPr>
          <a:xfrm flipH="false" flipV="false" rot="0">
            <a:off x="4950361" y="8954493"/>
            <a:ext cx="1452988" cy="607613"/>
          </a:xfrm>
          <a:custGeom>
            <a:avLst/>
            <a:gdLst/>
            <a:ahLst/>
            <a:cxnLst/>
            <a:rect r="r" b="b" t="t" l="l"/>
            <a:pathLst>
              <a:path h="607613" w="1452988">
                <a:moveTo>
                  <a:pt x="0" y="0"/>
                </a:moveTo>
                <a:lnTo>
                  <a:pt x="1452988" y="0"/>
                </a:lnTo>
                <a:lnTo>
                  <a:pt x="1452988" y="607614"/>
                </a:lnTo>
                <a:lnTo>
                  <a:pt x="0" y="607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false" flipV="false" rot="0">
            <a:off x="5387852" y="6803140"/>
            <a:ext cx="3756148" cy="491714"/>
          </a:xfrm>
          <a:custGeom>
            <a:avLst/>
            <a:gdLst/>
            <a:ahLst/>
            <a:cxnLst/>
            <a:rect r="r" b="b" t="t" l="l"/>
            <a:pathLst>
              <a:path h="491714" w="3756148">
                <a:moveTo>
                  <a:pt x="0" y="0"/>
                </a:moveTo>
                <a:lnTo>
                  <a:pt x="3756148" y="0"/>
                </a:lnTo>
                <a:lnTo>
                  <a:pt x="3756148" y="491714"/>
                </a:lnTo>
                <a:lnTo>
                  <a:pt x="0" y="4917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694311" y="3566636"/>
            <a:ext cx="14360105"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LIMITS + NEXT</a:t>
            </a:r>
          </a:p>
        </p:txBody>
      </p:sp>
      <p:grpSp>
        <p:nvGrpSpPr>
          <p:cNvPr name="Group 3" id="3"/>
          <p:cNvGrpSpPr/>
          <p:nvPr/>
        </p:nvGrpSpPr>
        <p:grpSpPr>
          <a:xfrm rot="0">
            <a:off x="734006" y="-4536979"/>
            <a:ext cx="13715905" cy="8275065"/>
            <a:chOff x="0" y="0"/>
            <a:chExt cx="4268343" cy="2575172"/>
          </a:xfrm>
        </p:grpSpPr>
        <p:sp>
          <p:nvSpPr>
            <p:cNvPr name="Freeform 4" id="4" descr="Drilling rig at dawn"/>
            <p:cNvSpPr/>
            <p:nvPr/>
          </p:nvSpPr>
          <p:spPr>
            <a:xfrm flipH="false" flipV="false" rot="0">
              <a:off x="0" y="0"/>
              <a:ext cx="4268343" cy="2575172"/>
            </a:xfrm>
            <a:custGeom>
              <a:avLst/>
              <a:gdLst/>
              <a:ahLst/>
              <a:cxnLst/>
              <a:rect r="r" b="b" t="t" l="l"/>
              <a:pathLst>
                <a:path h="2575172" w="4268343">
                  <a:moveTo>
                    <a:pt x="0" y="0"/>
                  </a:moveTo>
                  <a:lnTo>
                    <a:pt x="4268343" y="0"/>
                  </a:lnTo>
                  <a:lnTo>
                    <a:pt x="4268343" y="2575172"/>
                  </a:lnTo>
                  <a:lnTo>
                    <a:pt x="0" y="2575172"/>
                  </a:lnTo>
                  <a:close/>
                </a:path>
              </a:pathLst>
            </a:custGeom>
            <a:blipFill>
              <a:blip r:embed="rId3"/>
              <a:stretch>
                <a:fillRect l="0" t="-59768" r="0" b="-59768"/>
              </a:stretch>
            </a:blipFill>
          </p:spPr>
        </p:sp>
      </p:grpSp>
      <p:grpSp>
        <p:nvGrpSpPr>
          <p:cNvPr name="Group 5" id="5"/>
          <p:cNvGrpSpPr/>
          <p:nvPr/>
        </p:nvGrpSpPr>
        <p:grpSpPr>
          <a:xfrm rot="0">
            <a:off x="15559154" y="-210543"/>
            <a:ext cx="2728846" cy="11005220"/>
            <a:chOff x="0" y="0"/>
            <a:chExt cx="718709" cy="2898494"/>
          </a:xfrm>
        </p:grpSpPr>
        <p:sp>
          <p:nvSpPr>
            <p:cNvPr name="Freeform 6" id="6"/>
            <p:cNvSpPr/>
            <p:nvPr/>
          </p:nvSpPr>
          <p:spPr>
            <a:xfrm flipH="false" flipV="false" rot="0">
              <a:off x="0" y="0"/>
              <a:ext cx="718709" cy="2898494"/>
            </a:xfrm>
            <a:custGeom>
              <a:avLst/>
              <a:gdLst/>
              <a:ahLst/>
              <a:cxnLst/>
              <a:rect r="r" b="b" t="t" l="l"/>
              <a:pathLst>
                <a:path h="2898494" w="718709">
                  <a:moveTo>
                    <a:pt x="0" y="0"/>
                  </a:moveTo>
                  <a:lnTo>
                    <a:pt x="718709" y="0"/>
                  </a:lnTo>
                  <a:lnTo>
                    <a:pt x="718709" y="2898494"/>
                  </a:lnTo>
                  <a:lnTo>
                    <a:pt x="0" y="2898494"/>
                  </a:lnTo>
                  <a:close/>
                </a:path>
              </a:pathLst>
            </a:custGeom>
            <a:solidFill>
              <a:srgbClr val="F63B05"/>
            </a:solidFill>
          </p:spPr>
        </p:sp>
        <p:sp>
          <p:nvSpPr>
            <p:cNvPr name="TextBox 7" id="7"/>
            <p:cNvSpPr txBox="true"/>
            <p:nvPr/>
          </p:nvSpPr>
          <p:spPr>
            <a:xfrm>
              <a:off x="0" y="-47625"/>
              <a:ext cx="718709" cy="2946119"/>
            </a:xfrm>
            <a:prstGeom prst="rect">
              <a:avLst/>
            </a:prstGeom>
          </p:spPr>
          <p:txBody>
            <a:bodyPr anchor="ctr" rtlCol="false" tIns="50800" lIns="50800" bIns="50800" rIns="50800"/>
            <a:lstStyle/>
            <a:p>
              <a:pPr algn="ctr">
                <a:lnSpc>
                  <a:spcPts val="3431"/>
                </a:lnSpc>
              </a:pPr>
            </a:p>
          </p:txBody>
        </p:sp>
      </p:grpSp>
      <p:sp>
        <p:nvSpPr>
          <p:cNvPr name="Freeform 8" id="8"/>
          <p:cNvSpPr/>
          <p:nvPr/>
        </p:nvSpPr>
        <p:spPr>
          <a:xfrm flipH="false" flipV="false" rot="5400000">
            <a:off x="15672506" y="-523175"/>
            <a:ext cx="2502141" cy="1046350"/>
          </a:xfrm>
          <a:custGeom>
            <a:avLst/>
            <a:gdLst/>
            <a:ahLst/>
            <a:cxnLst/>
            <a:rect r="r" b="b" t="t" l="l"/>
            <a:pathLst>
              <a:path h="1046350" w="2502141">
                <a:moveTo>
                  <a:pt x="0" y="0"/>
                </a:moveTo>
                <a:lnTo>
                  <a:pt x="2502141" y="0"/>
                </a:lnTo>
                <a:lnTo>
                  <a:pt x="2502141" y="1046350"/>
                </a:lnTo>
                <a:lnTo>
                  <a:pt x="0" y="10463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87919" y="3298099"/>
            <a:ext cx="7546250" cy="3690802"/>
          </a:xfrm>
          <a:custGeom>
            <a:avLst/>
            <a:gdLst/>
            <a:ahLst/>
            <a:cxnLst/>
            <a:rect r="r" b="b" t="t" l="l"/>
            <a:pathLst>
              <a:path h="3690802" w="7546250">
                <a:moveTo>
                  <a:pt x="0" y="0"/>
                </a:moveTo>
                <a:lnTo>
                  <a:pt x="7546250" y="0"/>
                </a:lnTo>
                <a:lnTo>
                  <a:pt x="7546250" y="3690802"/>
                </a:lnTo>
                <a:lnTo>
                  <a:pt x="0" y="36908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536479"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NEXT STEPS: live rig data feeds and many wells at once, learning from engineer comments over time and a morning alert to the drilling team.</a:t>
            </a:r>
          </a:p>
        </p:txBody>
      </p:sp>
      <p:sp>
        <p:nvSpPr>
          <p:cNvPr name="TextBox 11" id="11"/>
          <p:cNvSpPr txBox="true"/>
          <p:nvPr/>
        </p:nvSpPr>
        <p:spPr>
          <a:xfrm rot="0">
            <a:off x="8536479"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LATER: MCP connectors so the agents can read company systems directly.</a:t>
            </a:r>
          </a:p>
        </p:txBody>
      </p:sp>
      <p:sp>
        <p:nvSpPr>
          <p:cNvPr name="TextBox 12" id="12"/>
          <p:cNvSpPr txBox="true"/>
          <p:nvPr/>
        </p:nvSpPr>
        <p:spPr>
          <a:xfrm rot="0">
            <a:off x="853091"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LIMITS: synthetic data, six NPT categories, one report format. The model sometimes labels planned work as NPT with high confidence. Not a certified engineering or safety tool.</a:t>
            </a:r>
          </a:p>
        </p:txBody>
      </p:sp>
      <p:sp>
        <p:nvSpPr>
          <p:cNvPr name="TextBox 13" id="13"/>
          <p:cNvSpPr txBox="true"/>
          <p:nvPr/>
        </p:nvSpPr>
        <p:spPr>
          <a:xfrm rot="0">
            <a:off x="853091" y="849524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TRUST: the industry is still deciding how far to trust agents with operational decisions, so the engineer keeps the final say (Source 4).</a:t>
            </a:r>
          </a:p>
        </p:txBody>
      </p:sp>
      <p:sp>
        <p:nvSpPr>
          <p:cNvPr name="TextBox 14" id="14"/>
          <p:cNvSpPr txBox="true"/>
          <p:nvPr/>
        </p:nvSpPr>
        <p:spPr>
          <a:xfrm rot="5400000">
            <a:off x="13227487" y="5364752"/>
            <a:ext cx="7335029" cy="989200"/>
          </a:xfrm>
          <a:prstGeom prst="rect">
            <a:avLst/>
          </a:prstGeom>
        </p:spPr>
        <p:txBody>
          <a:bodyPr anchor="t" rtlCol="false" tIns="0" lIns="0" bIns="0" rIns="0">
            <a:spAutoFit/>
          </a:bodyPr>
          <a:lstStyle/>
          <a:p>
            <a:pPr algn="r" marL="0" indent="0" lvl="0">
              <a:lnSpc>
                <a:spcPts val="7719"/>
              </a:lnSpc>
              <a:spcBef>
                <a:spcPct val="0"/>
              </a:spcBef>
            </a:pPr>
            <a:r>
              <a:rPr lang="en-US" sz="6954" strike="noStrike" u="none">
                <a:solidFill>
                  <a:srgbClr val="FFFAE5"/>
                </a:solidFill>
                <a:latin typeface="Anton"/>
                <a:ea typeface="Anton"/>
                <a:cs typeface="Anton"/>
                <a:sym typeface="Anton"/>
              </a:rPr>
              <a:t>BEYOND CA-3</a:t>
            </a:r>
          </a:p>
        </p:txBody>
      </p:sp>
      <p:sp>
        <p:nvSpPr>
          <p:cNvPr name="Freeform 15" id="15"/>
          <p:cNvSpPr/>
          <p:nvPr/>
        </p:nvSpPr>
        <p:spPr>
          <a:xfrm flipH="false" flipV="false" rot="0">
            <a:off x="15559154"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8">
              <a:alphaModFix amt="24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0">
            <a:off x="1662527" y="2052161"/>
            <a:ext cx="15008765" cy="8234839"/>
          </a:xfrm>
          <a:prstGeom prst="rect">
            <a:avLst/>
          </a:prstGeom>
        </p:spPr>
        <p:txBody>
          <a:bodyPr anchor="t" rtlCol="false" tIns="0" lIns="0" bIns="0" rIns="0">
            <a:spAutoFit/>
          </a:bodyPr>
          <a:lstStyle/>
          <a:p>
            <a:pPr algn="ctr">
              <a:lnSpc>
                <a:spcPts val="31098"/>
              </a:lnSpc>
            </a:pPr>
            <a:r>
              <a:rPr lang="en-US" sz="34942" spc="-594">
                <a:solidFill>
                  <a:srgbClr val="FFFAE5"/>
                </a:solidFill>
                <a:latin typeface="Anton"/>
                <a:ea typeface="Anton"/>
                <a:cs typeface="Anton"/>
                <a:sym typeface="Anton"/>
              </a:rPr>
              <a:t>THANK YOU</a:t>
            </a:r>
          </a:p>
        </p:txBody>
      </p:sp>
      <p:sp>
        <p:nvSpPr>
          <p:cNvPr name="Freeform 3" id="3"/>
          <p:cNvSpPr/>
          <p:nvPr/>
        </p:nvSpPr>
        <p:spPr>
          <a:xfrm flipH="false" flipV="false" rot="0">
            <a:off x="22910" y="633744"/>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326724" y="633744"/>
            <a:ext cx="10303814" cy="10287000"/>
          </a:xfrm>
          <a:custGeom>
            <a:avLst/>
            <a:gdLst/>
            <a:ahLst/>
            <a:cxnLst/>
            <a:rect r="r" b="b" t="t" l="l"/>
            <a:pathLst>
              <a:path h="10287000" w="10303814">
                <a:moveTo>
                  <a:pt x="10303815" y="0"/>
                </a:moveTo>
                <a:lnTo>
                  <a:pt x="0" y="0"/>
                </a:lnTo>
                <a:lnTo>
                  <a:pt x="0" y="10287000"/>
                </a:lnTo>
                <a:lnTo>
                  <a:pt x="10303815" y="10287000"/>
                </a:lnTo>
                <a:lnTo>
                  <a:pt x="10303815"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2297586" y="1145474"/>
            <a:ext cx="24181599" cy="17651802"/>
          </a:xfrm>
          <a:custGeom>
            <a:avLst/>
            <a:gdLst/>
            <a:ahLst/>
            <a:cxnLst/>
            <a:rect r="r" b="b" t="t" l="l"/>
            <a:pathLst>
              <a:path h="17651802" w="24181599">
                <a:moveTo>
                  <a:pt x="0" y="0"/>
                </a:moveTo>
                <a:lnTo>
                  <a:pt x="24181599" y="0"/>
                </a:lnTo>
                <a:lnTo>
                  <a:pt x="24181599" y="17651802"/>
                </a:lnTo>
                <a:lnTo>
                  <a:pt x="0" y="176518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9006781" y="-280676"/>
            <a:ext cx="24181599" cy="17651802"/>
          </a:xfrm>
          <a:custGeom>
            <a:avLst/>
            <a:gdLst/>
            <a:ahLst/>
            <a:cxnLst/>
            <a:rect r="r" b="b" t="t" l="l"/>
            <a:pathLst>
              <a:path h="17651802" w="24181599">
                <a:moveTo>
                  <a:pt x="0" y="0"/>
                </a:moveTo>
                <a:lnTo>
                  <a:pt x="24181598" y="0"/>
                </a:lnTo>
                <a:lnTo>
                  <a:pt x="24181598" y="17651802"/>
                </a:lnTo>
                <a:lnTo>
                  <a:pt x="0" y="176518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2000250" y="2398841"/>
            <a:ext cx="14287500" cy="1809539"/>
          </a:xfrm>
          <a:prstGeom prst="rect">
            <a:avLst/>
          </a:prstGeom>
        </p:spPr>
        <p:txBody>
          <a:bodyPr anchor="t" rtlCol="false" tIns="0" lIns="0" bIns="0" rIns="0">
            <a:spAutoFit/>
          </a:bodyPr>
          <a:lstStyle/>
          <a:p>
            <a:pPr algn="ctr" marL="0" indent="0" lvl="0">
              <a:lnSpc>
                <a:spcPts val="14712"/>
              </a:lnSpc>
              <a:spcBef>
                <a:spcPct val="0"/>
              </a:spcBef>
            </a:pPr>
            <a:r>
              <a:rPr lang="en-US" sz="10509" strike="noStrike" u="none">
                <a:solidFill>
                  <a:srgbClr val="000000"/>
                </a:solidFill>
                <a:latin typeface="Amsterdam Four"/>
                <a:ea typeface="Amsterdam Four"/>
                <a:cs typeface="Amsterdam Four"/>
                <a:sym typeface="Amsterdam Four"/>
              </a:rPr>
              <a:t>computed, sourced, approved</a:t>
            </a:r>
          </a:p>
        </p:txBody>
      </p:sp>
      <p:sp>
        <p:nvSpPr>
          <p:cNvPr name="Freeform 8" id="8"/>
          <p:cNvSpPr/>
          <p:nvPr/>
        </p:nvSpPr>
        <p:spPr>
          <a:xfrm flipH="false" flipV="false" rot="0">
            <a:off x="6878123" y="9141734"/>
            <a:ext cx="6337537" cy="829641"/>
          </a:xfrm>
          <a:custGeom>
            <a:avLst/>
            <a:gdLst/>
            <a:ahLst/>
            <a:cxnLst/>
            <a:rect r="r" b="b" t="t" l="l"/>
            <a:pathLst>
              <a:path h="829641" w="6337537">
                <a:moveTo>
                  <a:pt x="0" y="0"/>
                </a:moveTo>
                <a:lnTo>
                  <a:pt x="6337537" y="0"/>
                </a:lnTo>
                <a:lnTo>
                  <a:pt x="6337537" y="829641"/>
                </a:lnTo>
                <a:lnTo>
                  <a:pt x="0" y="82964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9" id="9"/>
          <p:cNvSpPr txBox="true"/>
          <p:nvPr/>
        </p:nvSpPr>
        <p:spPr>
          <a:xfrm rot="0">
            <a:off x="8084068" y="544628"/>
            <a:ext cx="2119864" cy="576453"/>
          </a:xfrm>
          <a:prstGeom prst="rect">
            <a:avLst/>
          </a:prstGeom>
        </p:spPr>
        <p:txBody>
          <a:bodyPr anchor="t" rtlCol="false" tIns="0" lIns="0" bIns="0" rIns="0">
            <a:spAutoFit/>
          </a:bodyPr>
          <a:lstStyle/>
          <a:p>
            <a:pPr algn="ctr" marL="0" indent="0" lvl="0">
              <a:lnSpc>
                <a:spcPts val="4486"/>
              </a:lnSpc>
              <a:spcBef>
                <a:spcPct val="0"/>
              </a:spcBef>
            </a:pPr>
            <a:r>
              <a:rPr lang="en-US" sz="4042" strike="noStrike" u="none">
                <a:solidFill>
                  <a:srgbClr val="FFFAE5"/>
                </a:solidFill>
                <a:latin typeface="Anton"/>
                <a:ea typeface="Anton"/>
                <a:cs typeface="Anton"/>
                <a:sym typeface="Anton"/>
              </a:rPr>
              <a:t>2026</a:t>
            </a:r>
          </a:p>
        </p:txBody>
      </p:sp>
      <p:sp>
        <p:nvSpPr>
          <p:cNvPr name="TextBox 10" id="10"/>
          <p:cNvSpPr txBox="true"/>
          <p:nvPr/>
        </p:nvSpPr>
        <p:spPr>
          <a:xfrm rot="0">
            <a:off x="768694" y="516053"/>
            <a:ext cx="2596096" cy="309753"/>
          </a:xfrm>
          <a:prstGeom prst="rect">
            <a:avLst/>
          </a:prstGeom>
        </p:spPr>
        <p:txBody>
          <a:bodyPr anchor="t" rtlCol="false" tIns="0" lIns="0" bIns="0" rIns="0">
            <a:spAutoFit/>
          </a:bodyPr>
          <a:lstStyle/>
          <a:p>
            <a:pPr algn="l" marL="0" indent="0" lvl="0">
              <a:lnSpc>
                <a:spcPts val="2331"/>
              </a:lnSpc>
              <a:spcBef>
                <a:spcPct val="0"/>
              </a:spcBef>
            </a:pPr>
            <a:r>
              <a:rPr lang="en-US" sz="2100" strike="noStrike" u="none">
                <a:solidFill>
                  <a:srgbClr val="FFFAE5"/>
                </a:solidFill>
                <a:latin typeface="Open Sauce"/>
                <a:ea typeface="Open Sauce"/>
                <a:cs typeface="Open Sauce"/>
                <a:sym typeface="Open Sauce"/>
              </a:rPr>
              <a:t>AGENTIC AI CA-3</a:t>
            </a:r>
          </a:p>
        </p:txBody>
      </p:sp>
      <p:sp>
        <p:nvSpPr>
          <p:cNvPr name="TextBox 11" id="11"/>
          <p:cNvSpPr txBox="true"/>
          <p:nvPr/>
        </p:nvSpPr>
        <p:spPr>
          <a:xfrm rot="0">
            <a:off x="15041599" y="516053"/>
            <a:ext cx="2596096" cy="309753"/>
          </a:xfrm>
          <a:prstGeom prst="rect">
            <a:avLst/>
          </a:prstGeom>
        </p:spPr>
        <p:txBody>
          <a:bodyPr anchor="t" rtlCol="false" tIns="0" lIns="0" bIns="0" rIns="0">
            <a:spAutoFit/>
          </a:bodyPr>
          <a:lstStyle/>
          <a:p>
            <a:pPr algn="r" marL="0" indent="0" lvl="0">
              <a:lnSpc>
                <a:spcPts val="2331"/>
              </a:lnSpc>
              <a:spcBef>
                <a:spcPct val="0"/>
              </a:spcBef>
            </a:pPr>
            <a:r>
              <a:rPr lang="en-US" sz="2100" strike="noStrike" u="none">
                <a:solidFill>
                  <a:srgbClr val="FFFAE5"/>
                </a:solidFill>
                <a:latin typeface="Open Sauce"/>
                <a:ea typeface="Open Sauce"/>
                <a:cs typeface="Open Sauce"/>
                <a:sym typeface="Open Sauce"/>
              </a:rPr>
              <a:t>TY AI-ML B</a:t>
            </a:r>
          </a:p>
        </p:txBody>
      </p:sp>
      <p:sp>
        <p:nvSpPr>
          <p:cNvPr name="TextBox 12" id="12"/>
          <p:cNvSpPr txBox="true"/>
          <p:nvPr/>
        </p:nvSpPr>
        <p:spPr>
          <a:xfrm rot="0">
            <a:off x="768694" y="3741760"/>
            <a:ext cx="1459717" cy="1923288"/>
          </a:xfrm>
          <a:prstGeom prst="rect">
            <a:avLst/>
          </a:prstGeom>
        </p:spPr>
        <p:txBody>
          <a:bodyPr anchor="t" rtlCol="false" tIns="0" lIns="0" bIns="0" rIns="0">
            <a:spAutoFit/>
          </a:bodyPr>
          <a:lstStyle/>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Every number computed by Python. Every flag sourced to a log line. Every report approved by an engineer.</a:t>
            </a:r>
          </a:p>
        </p:txBody>
      </p:sp>
      <p:sp>
        <p:nvSpPr>
          <p:cNvPr name="TextBox 13" id="13"/>
          <p:cNvSpPr txBox="true"/>
          <p:nvPr/>
        </p:nvSpPr>
        <p:spPr>
          <a:xfrm rot="0">
            <a:off x="14918966" y="7421656"/>
            <a:ext cx="1459717" cy="1161288"/>
          </a:xfrm>
          <a:prstGeom prst="rect">
            <a:avLst/>
          </a:prstGeom>
        </p:spPr>
        <p:txBody>
          <a:bodyPr anchor="t" rtlCol="false" tIns="0" lIns="0" bIns="0" rIns="0">
            <a:spAutoFit/>
          </a:bodyPr>
          <a:lstStyle/>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Questions welcome.</a:t>
            </a:r>
          </a:p>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github.com/ ranjanvrma/ rig-sight</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3" id="3"/>
          <p:cNvSpPr txBox="true"/>
          <p:nvPr/>
        </p:nvSpPr>
        <p:spPr>
          <a:xfrm rot="0">
            <a:off x="575227" y="6714018"/>
            <a:ext cx="12792159"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SOURCES</a:t>
            </a:r>
          </a:p>
        </p:txBody>
      </p:sp>
      <p:sp>
        <p:nvSpPr>
          <p:cNvPr name="Freeform 4" id="4"/>
          <p:cNvSpPr/>
          <p:nvPr/>
        </p:nvSpPr>
        <p:spPr>
          <a:xfrm flipH="false" flipV="false" rot="0">
            <a:off x="-567062" y="8207571"/>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5" id="5"/>
          <p:cNvSpPr txBox="true"/>
          <p:nvPr/>
        </p:nvSpPr>
        <p:spPr>
          <a:xfrm rot="0">
            <a:off x="571500" y="1847850"/>
            <a:ext cx="8382000" cy="39578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A. Mohammed, I. Abolle-Okoyeagu and C. J. Okeke. A Comparative Analysis of the Trouble Time for Conventional and Casing Drilling Wells: A Case Study on the Lobo Trend. Int. J. of Science and Technology, 2012. rgu-repository.worktribe.com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Daily Drilling Report Overhaul Aims to Provide Standard Framework for More Detailed Activity Tracking. Drilling Contractor (IADC), May/June 2020. drillingcontractor.org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A. Ortner. Differential Stuck Pipe Events: Development of Digital Best Practices for NPT Prevention. Master's thesis, Montanuniversität Leoben, 2020. pureadmin.unileoben.ac.at</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4  From Copilot to Co-Worker: Is Oil &amp; Gas Ready to Trust Agentic AI to Execute Operational Decisions? SPE ATCE 2026 Technical Program. atce.org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5  LangGraph Documentation. LangChain. docs.langchain.com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6  Groq API Documentation. console.groq.com/docs</a:t>
            </a:r>
          </a:p>
        </p:txBody>
      </p:sp>
      <p:sp>
        <p:nvSpPr>
          <p:cNvPr name="TextBox 6" id="6"/>
          <p:cNvSpPr txBox="true"/>
          <p:nvPr/>
        </p:nvSpPr>
        <p:spPr>
          <a:xfrm rot="0">
            <a:off x="9429750" y="1847850"/>
            <a:ext cx="8286750" cy="28624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7  FastAPI Documentation. fastapi.tiangolo.com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8  LangChain Documentation. docs.langchain.com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9  G. Aerts, A. Brun and M. Jerkø. How to Achieve 50 Percent Reduction in Offshore Drilling Costs. McKinsey &amp; Company, May 2015. mckinsey.com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10  J. Pallanich. 2026 Offshore Challenge: Softening Demand Puts the Brakes on Day Rates. Journal of Petroleum Technology (SPE), Nov 2025. jpt.spe.org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11  AIQ Announces $340 Million Contract From ADNOC for Deployment of Agentic AI. Journal of Petroleum Technology (SPE), May 2025. jpt.spe.org</a:t>
            </a:r>
          </a:p>
        </p:txBody>
      </p:sp>
      <p:sp>
        <p:nvSpPr>
          <p:cNvPr name="TextBox 7" id="7"/>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DAHYDChL5xA</dc:identifier>
  <dcterms:modified xsi:type="dcterms:W3CDTF">2011-08-01T06:04:30Z</dcterms:modified>
  <cp:revision>1</cp:revision>
  <dc:title>Reading the Rig - Agentic AI for Daily Drilling Reports (CA-3)</dc:title>
</cp:coreProperties>
</file>